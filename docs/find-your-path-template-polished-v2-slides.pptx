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8981c7d4f4cc1" /><Relationship Type="http://schemas.openxmlformats.org/officeDocument/2006/relationships/extended-properties" Target="/docProps/app.xml" Id="R5aae8e6af79f4926" /><Relationship Type="http://schemas.openxmlformats.org/officeDocument/2006/relationships/officeDocument" Target="/ppt/presentation.xml" Id="R34f0a8369343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de3025809c4675"/>
  </p:sldMasterIdLst>
  <p:notesMasterIdLst>
    <p:notesMasterId xmlns:r="http://schemas.openxmlformats.org/officeDocument/2006/relationships" r:id="Rd7c3647583c949ae"/>
  </p:notesMasterIdLst>
  <p:sldIdLst>
    <p:sldId xmlns:r="http://schemas.openxmlformats.org/officeDocument/2006/relationships" id="256" r:id="Rd8c0aa518db04188"/>
    <p:sldId xmlns:r="http://schemas.openxmlformats.org/officeDocument/2006/relationships" id="257" r:id="R28e9a34fd65c428b"/>
    <p:sldId xmlns:r="http://schemas.openxmlformats.org/officeDocument/2006/relationships" id="258" r:id="R10f0fecb27da42ef"/>
    <p:sldId xmlns:r="http://schemas.openxmlformats.org/officeDocument/2006/relationships" id="259" r:id="R075f0ac963544d6c"/>
    <p:sldId xmlns:r="http://schemas.openxmlformats.org/officeDocument/2006/relationships" id="260" r:id="R646be8e90f784913"/>
    <p:sldId xmlns:r="http://schemas.openxmlformats.org/officeDocument/2006/relationships" id="261" r:id="R1e8cb94175d84026"/>
    <p:sldId xmlns:r="http://schemas.openxmlformats.org/officeDocument/2006/relationships" id="262" r:id="Re0a9116fdf0f4725"/>
    <p:sldId xmlns:r="http://schemas.openxmlformats.org/officeDocument/2006/relationships" id="263" r:id="Rb95595131137477f"/>
    <p:sldId xmlns:r="http://schemas.openxmlformats.org/officeDocument/2006/relationships" id="264" r:id="Re049c2b7a0e04522"/>
    <p:sldId xmlns:r="http://schemas.openxmlformats.org/officeDocument/2006/relationships" id="265" r:id="Rf06a20e5b1f443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33cbe31b843ec" /><Relationship Type="http://schemas.openxmlformats.org/officeDocument/2006/relationships/slideMaster" Target="/ppt/slideMasters/slideMaster1.xml" Id="Rd8de3025809c4675" /><Relationship Type="http://schemas.openxmlformats.org/officeDocument/2006/relationships/notesMaster" Target="/ppt/notesMasters/notesMaster1.xml" Id="Rd7c3647583c949ae" /><Relationship Type="http://schemas.openxmlformats.org/officeDocument/2006/relationships/presProps" Target="/ppt/presProps.xml" Id="Re07077cfac8e4e96" /><Relationship Type="http://schemas.openxmlformats.org/officeDocument/2006/relationships/tableStyles" Target="/ppt/tableStyles.xml" Id="Rd5fa14df9aa744f1" /><Relationship Type="http://schemas.openxmlformats.org/officeDocument/2006/relationships/slide" Target="/ppt/slides/slide1.xml" Id="Rd8c0aa518db04188" /><Relationship Type="http://schemas.openxmlformats.org/officeDocument/2006/relationships/slide" Target="/ppt/slides/slide2.xml" Id="R28e9a34fd65c428b" /><Relationship Type="http://schemas.openxmlformats.org/officeDocument/2006/relationships/slide" Target="/ppt/slides/slide3.xml" Id="R10f0fecb27da42ef" /><Relationship Type="http://schemas.openxmlformats.org/officeDocument/2006/relationships/slide" Target="/ppt/slides/slide4.xml" Id="R075f0ac963544d6c" /><Relationship Type="http://schemas.openxmlformats.org/officeDocument/2006/relationships/slide" Target="/ppt/slides/slide5.xml" Id="R646be8e90f784913" /><Relationship Type="http://schemas.openxmlformats.org/officeDocument/2006/relationships/slide" Target="/ppt/slides/slide6.xml" Id="R1e8cb94175d84026" /><Relationship Type="http://schemas.openxmlformats.org/officeDocument/2006/relationships/slide" Target="/ppt/slides/slide7.xml" Id="Re0a9116fdf0f4725" /><Relationship Type="http://schemas.openxmlformats.org/officeDocument/2006/relationships/slide" Target="/ppt/slides/slide8.xml" Id="Rb95595131137477f" /><Relationship Type="http://schemas.openxmlformats.org/officeDocument/2006/relationships/slide" Target="/ppt/slides/slide9.xml" Id="Re049c2b7a0e04522" /><Relationship Type="http://schemas.openxmlformats.org/officeDocument/2006/relationships/slide" Target="/ppt/slides/slide10.xml" Id="Rf06a20e5b1f443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d555223cfd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a2531450b14c8b" /><Relationship Type="http://schemas.openxmlformats.org/officeDocument/2006/relationships/notesMaster" Target="/ppt/notesMasters/notesMaster1.xml" Id="Re788491d10ab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18f87a6424b79" /><Relationship Type="http://schemas.openxmlformats.org/officeDocument/2006/relationships/notesMaster" Target="/ppt/notesMasters/notesMaster1.xml" Id="Rc670d2189e1c4e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20c707179945ce" /><Relationship Type="http://schemas.openxmlformats.org/officeDocument/2006/relationships/notesMaster" Target="/ppt/notesMasters/notesMaster1.xml" Id="Rcbd096f8d5d046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2cfd5ee5445e2" /><Relationship Type="http://schemas.openxmlformats.org/officeDocument/2006/relationships/notesMaster" Target="/ppt/notesMasters/notesMaster1.xml" Id="R0ec6258bc2c645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289bfce044428" /><Relationship Type="http://schemas.openxmlformats.org/officeDocument/2006/relationships/notesMaster" Target="/ppt/notesMasters/notesMaster1.xml" Id="R393af55a751e4f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5149a00e048a0" /><Relationship Type="http://schemas.openxmlformats.org/officeDocument/2006/relationships/notesMaster" Target="/ppt/notesMasters/notesMaster1.xml" Id="R170f9fb7ac06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ae566c697e408f" /><Relationship Type="http://schemas.openxmlformats.org/officeDocument/2006/relationships/notesMaster" Target="/ppt/notesMasters/notesMaster1.xml" Id="R6e40dab5cccd47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366fe59a84f2f" /><Relationship Type="http://schemas.openxmlformats.org/officeDocument/2006/relationships/notesMaster" Target="/ppt/notesMasters/notesMaster1.xml" Id="R8d176483096047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cb6e9b29ff4cbc" /><Relationship Type="http://schemas.openxmlformats.org/officeDocument/2006/relationships/notesMaster" Target="/ppt/notesMasters/notesMaster1.xml" Id="R6a69bb1c6a63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962f3c33124bbc" /><Relationship Type="http://schemas.openxmlformats.org/officeDocument/2006/relationships/notesMaster" Target="/ppt/notesMasters/notesMaster1.xml" Id="R3eee8593d9ef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nhanh: bài toán giao hàng xe máy đô thị có traffic, deadline và đường bị chặn.</a:t>
            </a:r>
          </a:p>
          <a:p xmlns:a="http://schemas.openxmlformats.org/drawingml/2006/main">
            <a:r>
              <a:t>Nhấn mạnh demo học thuật: không chỉ tìm đường mà còn giải thích quyết định của thuật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bài toán theo ngôn ngữ người nghe: shipper phải đi qua pickup/dropoff trong điều kiện có chi phí và ràng buộc.</a:t>
            </a:r>
          </a:p>
          <a:p xmlns:a="http://schemas.openxmlformats.org/drawingml/2006/main">
            <a:r>
              <a:t>Dẫn sang mô hình state/action/goal/cost.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Nếu cô hỏi state là gì: state không chỉ là vị trí mà còn trạng thái đơn và môi trường.</a:t>
            </a:r>
          </a:p>
          <a:p xmlns:a="http://schemas.openxmlformats.org/drawingml/2006/main">
            <a:r>
              <a:t>Cost gồm thời gian cạnh, hệ số traffic và penalty trễ/tải.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kiến trúc vừa đủ: UI không chứa logic thuật toán; thuật toán nằm trong src/app/algorithms.</a:t>
            </a:r>
          </a:p>
          <a:p xmlns:a="http://schemas.openxmlformats.org/drawingml/2006/main">
            <a:r>
              <a:t>SQLite phục vụ demo user, permission và đơn hàng.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hết chi tiết. Nói theo vai trò: baseline, heuristic, tối ưu thứ tự, môi trường phức tạp, ràng buộc, đối kháng.</a:t>
            </a:r>
          </a:p>
          <a:p xmlns:a="http://schemas.openxmlformats.org/drawingml/2006/main">
            <a:r>
              <a:t>Nếu bị hỏi trọng tâm: chọn A*, Online Replanning/AND-OR, Forward Checking, Alpha-Beta.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phao vấn đáp: mọi thuật toán đều trả lời theo state, goal, rule, result.</a:t>
            </a:r>
          </a:p>
          <a:p xmlns:a="http://schemas.openxmlformats.org/drawingml/2006/main">
            <a:r>
              <a:t>Với A*: g là chi phí đã đi, h là heuristic tới đích.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khẳng định biểu đồ là benchmark cuối cùng nếu chưa chạy batch. Gọi đây là minh họa cách đọc metric.</a:t>
            </a:r>
          </a:p>
          <a:p xmlns:a="http://schemas.openxmlformats.org/drawingml/2006/main">
            <a:r>
              <a:t>Trong demo, mở Defense Lab để xem cost/visited/runtime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Chuẩn bị trước: mở local/Vercel, đăng nhập admin/admin123.</a:t>
            </a:r>
          </a:p>
          <a:p xmlns:a="http://schemas.openxmlformats.org/drawingml/2006/main">
            <a:r>
              <a:t>Không demo quá nhiều thuật toán. Chọn 3 điểm sáng: A*, Complex, admin/shipper.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Đừng né hạn chế. Nói rõ vì đây là demo học thuật nên một số mô hình được đơn giản hóa.</a:t>
            </a:r>
          </a:p>
          <a:p xmlns:a="http://schemas.openxmlformats.org/drawingml/2006/main">
            <a:r>
              <a:t>Hướng phát triển: DB cho custom node/edge, route history, map lớn hơn, realtime traffic.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câu kết chậm, tự tin, rồi chuyển sang 'em xin sẵn sàng trả lời câu hỏi'.</a:t>
            </a:r>
          </a:p>
          <a:p xmlns:a="http://schemas.openxmlformats.org/drawingml/2006/main">
            <a:r>
              <a:t>Nếu thời gian thiếu, lướt nhanh slide 7 hoặc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a6686be9246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049db47754330" /><Relationship Type="http://schemas.openxmlformats.org/officeDocument/2006/relationships/slideLayout" Target="/ppt/slideLayouts/slideLayout1.xml" Id="R6203d962beeb41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3d962beeb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23a23dcfc4c1e" /><Relationship Type="http://schemas.openxmlformats.org/officeDocument/2006/relationships/image" Target="/ppt/media/image.png" Id="R88b86d1105e74e74" /><Relationship Type="http://schemas.openxmlformats.org/officeDocument/2006/relationships/image" Target="/ppt/media/image2.png" Id="Rd5fbaba39aed47fa" /><Relationship Type="http://schemas.openxmlformats.org/officeDocument/2006/relationships/image" Target="/ppt/media/image3.png" Id="Rdc8edd5a47914f4f" /><Relationship Type="http://schemas.openxmlformats.org/officeDocument/2006/relationships/notesSlide" Target="/ppt/notesSlides/notesSlide1.xml" Id="Rd7f710cba77347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80f36ac341e4" /><Relationship Type="http://schemas.openxmlformats.org/officeDocument/2006/relationships/image" Target="/ppt/media/image4.png" Id="R398a1c7befaf4e9d" /><Relationship Type="http://schemas.openxmlformats.org/officeDocument/2006/relationships/notesSlide" Target="/ppt/notesSlides/notesSlide2.xml" Id="R9fe86b9b5683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6b52e2871412f" /><Relationship Type="http://schemas.openxmlformats.org/officeDocument/2006/relationships/notesSlide" Target="/ppt/notesSlides/notesSlide3.xml" Id="R5afe0551f632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918f95a2248bb" /><Relationship Type="http://schemas.openxmlformats.org/officeDocument/2006/relationships/image" Target="/ppt/media/image5.png" Id="R39d92e9871b74fc6" /><Relationship Type="http://schemas.openxmlformats.org/officeDocument/2006/relationships/notesSlide" Target="/ppt/notesSlides/notesSlide4.xml" Id="R0759eee8cc7049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550a14d14ac5" /><Relationship Type="http://schemas.openxmlformats.org/officeDocument/2006/relationships/notesSlide" Target="/ppt/notesSlides/notesSlide5.xml" Id="R6680976ab23d4b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8c3f35df845c6" /><Relationship Type="http://schemas.openxmlformats.org/officeDocument/2006/relationships/notesSlide" Target="/ppt/notesSlides/notesSlide6.xml" Id="Ra6911ffd48de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50e229edc4d4b" /><Relationship Type="http://schemas.openxmlformats.org/officeDocument/2006/relationships/chart" Target="/ppt/slides/charts/chart1.xml" Id="R7073f5d2afbc44c5" /><Relationship Type="http://schemas.openxmlformats.org/officeDocument/2006/relationships/notesSlide" Target="/ppt/notesSlides/notesSlide7.xml" Id="Ra36f5ca94dbd40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51ce8abb4c35" /><Relationship Type="http://schemas.openxmlformats.org/officeDocument/2006/relationships/image" Target="/ppt/media/image6.png" Id="R12e63ebe7b674434" /><Relationship Type="http://schemas.openxmlformats.org/officeDocument/2006/relationships/image" Target="/ppt/media/image7.png" Id="R2c54489d5fd2487e" /><Relationship Type="http://schemas.openxmlformats.org/officeDocument/2006/relationships/image" Target="/ppt/media/image8.png" Id="R6077a400ad664d52" /><Relationship Type="http://schemas.openxmlformats.org/officeDocument/2006/relationships/notesSlide" Target="/ppt/notesSlides/notesSlide8.xml" Id="Rd4f2f658c4bb48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ef3acd30e4be2" /><Relationship Type="http://schemas.openxmlformats.org/officeDocument/2006/relationships/notesSlide" Target="/ppt/notesSlides/notesSlide9.xml" Id="R1d0c55f53da04c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cd89548846e6" /><Relationship Type="http://schemas.openxmlformats.org/officeDocument/2006/relationships/notesSlide" Target="/ppt/notesSlides/notesSlide10.xml" Id="Rb3e8cd315cae4e0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Node mở rộng minh họa</c:v>
          </c:tx>
          <c:spPr>
            <a:solidFill xmlns:a="http://schemas.openxmlformats.org/drawingml/2006/main">
              <a:srgbClr val="0474D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BFS</c:v>
              </c:pt>
              <c:pt idx="1">
                <c:v>UCS</c:v>
              </c:pt>
              <c:pt idx="2">
                <c:v>A*</c:v>
              </c:pt>
              <c:pt idx="3">
                <c:v>Replan</c:v>
              </c:pt>
              <c:pt idx="4">
                <c:v>A-Beta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15</c:v>
              </c:pt>
              <c:pt idx="2">
                <c:v>9</c:v>
              </c:pt>
              <c:pt idx="3">
                <c:v>11</c:v>
              </c:pt>
              <c:pt idx="4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66D13-268D-4892-B2FE-336ACB9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278DA-14AC-4F26-A9F8-71445F48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C67A-DAB7-42BB-BA8E-EEA74570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8B606-45F7-48B0-BE80-B8F27AD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2803C-9FB9-40F2-8A45-88FAAA8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6C496-937E-4A81-BC85-E52252F5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01 /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8BBE-D443-4DDD-9DDA-3DB2E805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429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E6EDF5"/>
                </a:solidFill>
              </a:defRPr>
            </a:pPr>
            <a:r>
              <a:rPr sz="5850" b="1">
                <a:solidFill>
                  <a:srgbClr val="E6EDF5"/>
                </a:solidFill>
                <a:latin typeface="Montserrat"/>
                <a:ea typeface="Montserrat"/>
                <a:cs typeface="Montserrat"/>
              </a:rPr>
              <a:t>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4D916-25E1-4280-BCD3-2F0E6726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287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923"/>
                </a:solidFill>
              </a:defRPr>
            </a:pPr>
            <a:r>
              <a:rPr sz="435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DC268-7F63-437A-BE7E-81BA898F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03E"/>
                </a:solidFill>
              </a:defRPr>
            </a:pPr>
            <a:r>
              <a:rPr sz="1800" b="1">
                <a:solidFill>
                  <a:srgbClr val="C8903E"/>
                </a:solidFill>
                <a:latin typeface="Montserrat"/>
                <a:ea typeface="Montserrat"/>
                <a:cs typeface="Montserrat"/>
              </a:rPr>
              <a:t>Smart Urban Delivery 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BCEC-A75F-4A60-A72B-7799C674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5B6A"/>
                </a:solidFill>
              </a:defRPr>
            </a:pPr>
            <a:r>
              <a:rPr sz="16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So sánh 6 nhóm thuật toán AI cho bài toán lập tuyến giao hàng đô thị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4718A-FC6B-4C0A-9C95-52ABF1D1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143000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541F3-E2F5-4FB0-9F81-917661D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3429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0A6"/>
          </a:solidFill>
          <a:ln xmlns:a="http://schemas.openxmlformats.org/drawingml/2006/main" w="9525">
            <a:solidFill>
              <a:srgbClr val="FF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EAA38-B9AA-4E2A-AB66-29BFC544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8137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20 phút: trình bày + demo + vấn đáp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05059-D258-443F-A447-1C29C00B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11049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D564F-B227-4218-94F4-4FA2B4BC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813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A078"/>
                </a:solidFill>
              </a:defRPr>
            </a:pPr>
            <a:r>
              <a:rPr sz="1200" b="1">
                <a:solidFill>
                  <a:srgbClr val="1FA078"/>
                </a:solidFill>
                <a:latin typeface="Montserrat"/>
                <a:ea typeface="Montserrat"/>
                <a:cs typeface="Montserrat"/>
              </a:rPr>
              <a:t>Nhóm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FA754-BC34-4DB7-99B1-107BB7E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24384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71923"/>
          </a:solidFill>
          <a:ln xmlns:a="http://schemas.openxmlformats.org/drawingml/2006/main" w="9525">
            <a:solidFill>
              <a:srgbClr val="171923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86d1105e74e74"/>
          <a:stretch xmlns:a="http://schemas.openxmlformats.org/drawingml/2006/main"/>
        </p:blipFill>
        <p:spPr>
          <a:xfrm xmlns:a="http://schemas.openxmlformats.org/drawingml/2006/main">
            <a:off x="8172450" y="12001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baba39aed47fa"/>
          <a:stretch xmlns:a="http://schemas.openxmlformats.org/drawingml/2006/main"/>
        </p:blipFill>
        <p:spPr>
          <a:xfrm xmlns:a="http://schemas.openxmlformats.org/drawingml/2006/main">
            <a:off x="9772650" y="365760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edd5a47914f4f"/>
          <a:stretch xmlns:a="http://schemas.openxmlformats.org/drawingml/2006/main"/>
        </p:blipFill>
        <p:spPr>
          <a:xfrm xmlns:a="http://schemas.openxmlformats.org/drawingml/2006/main">
            <a:off x="10477500" y="30861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F16F7-2DA2-4E38-A45A-B05BAAF4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353550" y="4438650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5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F828E-47D0-4812-B049-7185C74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339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0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401D2-A737-4E91-BC57-D253A92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5B6A"/>
                </a:solidFill>
              </a:defRPr>
            </a:pPr>
            <a:r>
              <a:rPr sz="13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Nguyễn Đức Phát - Nguyễn Văn Thi</a:t>
            </a:r>
          </a:p>
          <a:p xmlns:a="http://schemas.openxmlformats.org/drawingml/2006/main">
            <a:pPr algn="l">
              <a:defRPr sz="1350" b="0">
                <a:solidFill>
                  <a:srgbClr val="505B6A"/>
                </a:solidFill>
              </a:defRPr>
            </a:pPr>
            <a:r>
              <a:rPr sz="13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GVHD: TS. Phan Thị Huyền Trang</a:t>
            </a:r>
          </a:p>
        </p:txBody>
      </p:sp>
    </p:spTree>
    <p:extLst>
      <p:ext uri="{BB962C8B-B14F-4D97-AF65-F5344CB8AC3E}">
        <p14:creationId xmlns:p14="http://schemas.microsoft.com/office/powerpoint/2010/main" val="825770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3E98E-57B1-4AB1-80F5-6D447D3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22C0F-2197-464F-9821-CA0D815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C0A85-993A-4614-804A-73799F3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97DDB-F0BB-4EC7-BB7D-F83CE96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3BDB5-AEC0-4C60-A19F-7F3006E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112A1-F816-44B5-90AC-D968481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02 /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911B-C5A4-4EAC-B110-589328C4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Bài toán đặt 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DAAD-11E2-4466-93A5-6C9CDEE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Từ nghiệp vụ giao hàng đến mô hình tìm kiếm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3E56B-4348-45D5-9405-4D1105B5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A8312-0D60-48CF-AEEF-8415EE3D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428750" y="23622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2D6BC-221B-4785-94E0-578D59F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4381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E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B355A-19B5-450F-80D5-CD9C5C57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23"/>
                </a:solidFill>
              </a:defRPr>
            </a:pPr>
            <a:r>
              <a:rPr sz="135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TODAY'S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33993-A60D-44FB-B345-711C5CE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23"/>
                </a:solidFill>
              </a:defRPr>
            </a:pPr>
            <a:r>
              <a:rPr sz="18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Tìm tuyến giao hàng trong đô thị có traffic, deadline, tải trọng và cạnh bị chặn.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EC3E3-C47E-4AB7-A56A-7D61C73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1148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D4862-5651-428B-9E21-9BCE878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03E"/>
          </a:solidFill>
          <a:ln xmlns:a="http://schemas.openxmlformats.org/drawingml/2006/main" w="9525">
            <a:solidFill>
              <a:srgbClr val="C890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88EFC-D6A0-4415-994A-5D3EE1E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MONTH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9DAE2-AE0A-40BF-8209-D6ECF51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Đầu vào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4C3D9-1237-4124-BBC2-BD230D17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Shipper, đơn hàng, pickup/dropoff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6E6C9-D740-4148-AE90-8BA9960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Mục tiêu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2E3FE-785E-4C85-9DB0-01F29347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95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Route phù hợp, có metric và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EBF0D-41A1-4511-82B7-E3D4361C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Khó khăn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87622-3889-4496-A077-F508F7F6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Ràng buộc, thiếu quan sát, disruption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CFA82-159A-4796-9335-EF171E3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238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9CF58"/>
          </a:solidFill>
          <a:ln xmlns:a="http://schemas.openxmlformats.org/drawingml/2006/main" w="9525">
            <a:solidFill>
              <a:srgbClr val="F9CF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65EC3-DD1F-46D1-954F-7E8C26A0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339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Câu hỏi bảo vệ chính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B4BD5-36AC-4109-8344-E4AF161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474D9"/>
                </a:solidFill>
              </a:defRPr>
            </a:pPr>
            <a:r>
              <a:rPr sz="1950" b="1">
                <a:solidFill>
                  <a:srgbClr val="0474D9"/>
                </a:solidFill>
                <a:latin typeface="Montserrat"/>
                <a:ea typeface="Montserrat"/>
                <a:cs typeface="Montserrat"/>
              </a:rPr>
              <a:t>Thuật toán nào phù hợp với từng tình huống giao hàng, và vì sao?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a1c7befaf4e9d"/>
          <a:stretch xmlns:a="http://schemas.openxmlformats.org/drawingml/2006/main"/>
        </p:blipFill>
        <p:spPr>
          <a:xfrm xmlns:a="http://schemas.openxmlformats.org/drawingml/2006/main">
            <a:off x="10267950" y="50292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22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E1347-D3A2-4010-9855-BB959B6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BACC6-2953-45E7-9CE3-1881EFA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CB037-0DBD-41CC-96A5-953F364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82C9E-957E-4FBD-81ED-5E4FD41E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70BAF-6A9B-44BF-ABA7-1549D96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EDBB9-8764-4F86-9787-EFE7452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03 /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91E48-31D0-490D-8A5B-A7BEAE75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Mô hình hóa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F281-BD24-4DDD-BF93-24DC4EE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State, initial state, goal test và cost 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1DB73-EB32-4D33-94F1-146F0F3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BD716-BA8E-4FFA-9210-26232B59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C85ED-39EF-4F4B-B9C5-50FD275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48F27-BE7D-4131-A91D-B4F11F2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B5F8F-0594-414E-857E-348C434F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vị trí shipper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đơn đã nhận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trạng thái cạnh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E46E8-018B-4FDF-AA3F-9CECE212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6C38A-0D5A-4DC8-B926-69A2BA1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511E0-78D4-41CA-9FE0-67E54211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CD62E-0AA4-4B5A-932C-B84BD8EC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INITIAL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BD527-7752-4B0E-B84F-4D394A25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vị trí hiện tại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hoặc xuất phát từ kho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641F9-EFA5-42B3-A888-239ABC6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0BE3C-31D3-4161-857D-2588F0F7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487BA-A412-4981-B7AC-11F6FB4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A9B4F-5BD2-4F1B-AEF8-89CA296F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GOAL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07C34-F059-413F-95A8-EABD2A80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hoàn tất pickup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và dropoff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4BF57-2757-498F-96F6-9057D0B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860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E52F6-F5C7-4D94-86D9-39DC91BC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4AD50-0009-4231-A444-A8E8938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765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B086A-E1BF-4278-8723-C6BD4A3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3D0E7-DE59-4D2F-8DFB-DD253E3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57625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base time + traffic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+ penalty trễ/tải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F20AA-EAE5-42A7-9D05-68A5D7D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1714500" y="48768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C99A6-0159-4CE6-ADE7-1959F58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742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F3DE5-3D67-4EBD-A7F1-D4E9E17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958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26CB7-F376-45A7-9F56-5130DEA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Điểm nhấn khi vấn đáp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EC2AA-9321-4182-A908-1B5BB6A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App dùng OSM cache để hiển thị bản đồ; quyết định routing vẫn do thuật toán Python trong project thực hiện.</a:t>
            </a:r>
          </a:p>
        </p:txBody>
      </p:sp>
    </p:spTree>
    <p:extLst>
      <p:ext uri="{BB962C8B-B14F-4D97-AF65-F5344CB8AC3E}">
        <p14:creationId xmlns:p14="http://schemas.microsoft.com/office/powerpoint/2010/main" val="384918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3E690-882C-4DD4-A0EA-6366E0A8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47BB5-37C8-4BD6-AAE4-7C733C8A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B456F-94ED-47D4-B311-74E38BD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669B0-91D7-4FB1-9461-B0D39652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713D5-3685-416C-8A69-836E215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92E0-605C-4E61-B333-1E8091E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04 /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BA20E-AFD3-4EF6-A6AC-C964CB59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Thiết kế hệ thống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34E9C-64D3-4238-9539-B34B0FB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Tách UI, API, service, thuật toán và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26A7E-CB56-44E2-809B-29C504F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47325-BD3E-45B3-A23C-8498F98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2667000" cy="3238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E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C6373-6498-475A-B5C8-0E1EAE21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81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923"/>
                </a:solidFill>
              </a:defRPr>
            </a:pPr>
            <a:r>
              <a:rPr sz="135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TODAY'S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B7BAB-B550-4F99-AC8C-B7A33D5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UI trình bày trace và thao tác;</a:t>
            </a:r>
          </a:p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logic thuật toán tách riêng khỏi giao diện.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0CBFC-A01F-4C8F-9212-E9E7F96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474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70869-5483-40EE-A1A6-2A054F6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0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23"/>
                </a:solidFill>
              </a:defRPr>
            </a:pPr>
            <a:r>
              <a:rPr sz="142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Flet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A32BA-46E2-481F-B722-D5F36359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5B6A"/>
                </a:solidFill>
              </a:defRPr>
            </a:pPr>
            <a:r>
              <a:rPr sz="10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Defense Lab / Shipper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BBAE6-853F-4A31-A9A2-C920EEEF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670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9F012-1D3B-4CF7-9D45-2318B7C9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0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31B8F-6836-442E-874F-8964E484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432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23"/>
                </a:solidFill>
              </a:defRPr>
            </a:pPr>
            <a:r>
              <a:rPr sz="142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CAD3E-C417-41B3-BE9C-80C638F4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5B6A"/>
                </a:solidFill>
              </a:defRPr>
            </a:pPr>
            <a:r>
              <a:rPr sz="10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API routers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312C5-F2FC-45F7-9717-4C19ADD6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38B08-DD14-4F14-95EE-0DDC876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0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96A49-8B86-44C4-A0F1-2CFBD2B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862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23"/>
                </a:solidFill>
              </a:defRPr>
            </a:pPr>
            <a:r>
              <a:rPr sz="142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BA1E9-C3B2-4ABE-9441-48C74C3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5B6A"/>
                </a:solidFill>
              </a:defRPr>
            </a:pPr>
            <a:r>
              <a:rPr sz="10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nghiệp vụ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46E7C-9FE8-4990-90D7-7B03D31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52950"/>
            <a:ext cx="95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AA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17EF64-ACE2-4F58-B2AE-F35854AF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5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9C6A2-1BBC-4B9F-A4FB-0B00C2A6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291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23"/>
                </a:solidFill>
              </a:defRPr>
            </a:pPr>
            <a:r>
              <a:rPr sz="142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AI 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92AEE-E606-476C-81C7-E5F0AC0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5B6A"/>
                </a:solidFill>
              </a:defRPr>
            </a:pPr>
            <a:r>
              <a:rPr sz="105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6 nhóm thuật toán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6EA4D-C62F-433C-A622-BC9C8511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476500" cy="2762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81A01-F83B-40A1-A659-64F73E6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03E"/>
          </a:solidFill>
          <a:ln xmlns:a="http://schemas.openxmlformats.org/drawingml/2006/main" w="9525">
            <a:solidFill>
              <a:srgbClr val="C890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61E58-8C7F-402C-9622-95CBA26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TO-DO 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E5F8E-569B-42D3-8396-71EA2D38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23"/>
                </a:solidFill>
              </a:defRPr>
            </a:pPr>
            <a:r>
              <a:rPr sz="165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SQLite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4D1745-7833-4857-BD0F-85BB7EF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user, nhóm shipper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permission thuật toán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đơn hàng đã nhận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EC2BA4-B5CB-42EC-814D-759624E9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4D9"/>
                </a:solidFill>
              </a:defRPr>
            </a:pPr>
            <a:r>
              <a:rPr sz="1350" b="1">
                <a:solidFill>
                  <a:srgbClr val="0474D9"/>
                </a:solidFill>
                <a:latin typeface="Montserrat"/>
                <a:ea typeface="Montserrat"/>
                <a:cs typeface="Montserrat"/>
              </a:rPr>
              <a:t>OSM graph cache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92e9871b74fc6"/>
          <a:stretch xmlns:a="http://schemas.openxmlformats.org/drawingml/2006/main"/>
        </p:blipFill>
        <p:spPr>
          <a:xfrm xmlns:a="http://schemas.openxmlformats.org/drawingml/2006/main">
            <a:off x="8858250" y="481965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35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D9EF9-F268-4CB3-821F-2F856BA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D5753-504D-491E-BC58-69958B3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F5AF-AFC9-49AF-B209-70181EFA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C2815-22A7-42A8-B9FA-7E099F95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2B3E9-DA86-4849-BC87-5DFE7FFD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75EBF-DDBB-41C4-8AD9-ED402DD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05 / algorithms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BFBAC-3E5A-488C-BE25-4AFB33B3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6 nhóm thuật toán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499B0-9071-4CAB-BB98-FC52F822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Mỗi nhóm giải một lát cắt khác nhau của bài toán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E241-671F-4AEA-B6B1-FFA4EE0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056BD-4BFE-4A2E-8EBD-5405A26D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C8216-02BB-4E00-AF42-1973A97E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9ADF1-B19A-4C91-B311-1FC0E1C4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Uninformed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34724-E2E3-48BA-B726-4DA7379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BFS / DFS / UCS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baseline tìm đường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ABAA0-F7A6-4E3C-A1FF-3ED5BAEB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62013-F9B3-4495-A8FC-94824467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4DA3A-DEEC-4F87-8DCA-FBCE98D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Informed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65B40-BAF5-4A30-B1A3-0324B3F9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Greedy / A*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heuristic định hướng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0C8E-E04D-4C99-9B88-FBD6C17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47F9C-5979-4043-AC02-641BA80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7B90E-A5A5-4506-93AD-61E32A8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9ABC-3A23-4704-955E-053C52E6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Hill / SA / Beam / GA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tối ưu nhiều đơn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4FA28-E983-4AC9-80BE-7019A62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AD936-E03F-4499-B10A-A177203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6354B-CE3A-49C9-AEDC-26203A3F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Complex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170A9-16A9-417C-9749-5ACA6FAE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Belief / Replan / AND-OR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thiếu quan sát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47902-18E8-4E31-A34D-FC1730E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413A0-A302-44D1-A75E-802706EF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769CF-229F-49E3-9503-CD2017F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CSP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4E54D-9679-4E42-BBDB-BF7D4DB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MRV / Forward Checking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ràng buộc hợp lệ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11D20-2CE0-4F9F-9451-15EE610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9A9A45-CC3C-4ECF-AA23-2031116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5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DE16B1-CD1E-4FA0-A4C0-B9B5F830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Adversarial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06E04-429F-4543-AC47-BCAA122F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1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Minimax / Alpha-Beta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worst-case disruption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482DC-71A4-4899-8286-18AD44F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4D9"/>
                </a:solidFill>
              </a:defRPr>
            </a:pPr>
            <a:r>
              <a:rPr sz="1800" b="1">
                <a:solidFill>
                  <a:srgbClr val="0474D9"/>
                </a:solidFill>
                <a:latin typeface="Overpass"/>
                <a:ea typeface="Overpass"/>
                <a:cs typeface="Overpass"/>
              </a:rPr>
              <a:t>Slide chính chỉ nêu vai trò; phần demo dùng trace để chứng minh.</a:t>
            </a:r>
          </a:p>
        </p:txBody>
      </p:sp>
    </p:spTree>
    <p:extLst>
      <p:ext uri="{BB962C8B-B14F-4D97-AF65-F5344CB8AC3E}">
        <p14:creationId xmlns:p14="http://schemas.microsoft.com/office/powerpoint/2010/main" val="1728799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BD6A6-F792-4B8A-B26E-45DE514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B81B9-F9D5-459B-BB8B-C2B028D7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07A45-1070-47D6-BB5A-86EA75F4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23DF2-A3F4-4392-8A27-6C56180A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7F41B-D63D-4194-BD04-9F520696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233C2-1FF4-4E74-B28D-61E0C32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06 /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44089-BFCE-4646-9033-E0E44278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Khung trả lời thuật toán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FF5E-5647-400F-A51C-E545C1EB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Dùng cùng một cấu trúc để không bị rối khi vấn đáp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6DD41-2564-410C-8D96-823035AE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34FAC-4391-4E0F-ABF9-5D71A92F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DB8BD-2FC3-43CC-B09A-511F13A9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4BF0E-EF34-4FA6-B11B-08A0F21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Trạng thái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F4390-05CB-40FB-94D3-725E92C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shipper đang ở đâu,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biết gì về môi trường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1FCBD-438F-47C8-9E0D-A3BD534C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E0B4D-2ACA-4D07-82EE-49939F8B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5C2DB-1027-4399-8A3B-4DB9CE5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41635-A143-4CBF-B71D-711BC9B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Mục tiêu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A4D48-9872-4213-B892-639F6E8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đạt pickup/dropoff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hoặc thỏa ràng buộc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66B06-FDED-4EA7-95E2-082BD42D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28D34-304E-4C02-A33A-E183A75B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D19BA-1872-466F-8C8E-926C011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7C5B9-7DA3-403E-A3C4-CA1A1E46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Luật chọn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78EEF-8AD0-4F1C-B5B9-03930CB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frontier, heuristic,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domain, alpha/beta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621E4-6B6F-4B17-900E-156FABB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7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0343E-2EA4-4BAA-AA68-8C7156F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1D37C0-2959-44CA-BD43-838C26A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02409-0716-474A-8F4A-8F982E9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923"/>
                </a:solidFill>
              </a:defRPr>
            </a:pPr>
            <a:r>
              <a:rPr sz="1500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Kết quả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2B2D2-AB0E-409F-8120-4CEC7C5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path, cost, visited,</a:t>
            </a:r>
          </a:p>
          <a:p xmlns:a="http://schemas.openxmlformats.org/drawingml/2006/main">
            <a:pPr algn="ctr">
              <a:defRPr sz="1200" b="0">
                <a:solidFill>
                  <a:srgbClr val="505B6A"/>
                </a:solidFill>
              </a:defRPr>
            </a:pPr>
            <a:r>
              <a:rPr sz="12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trace, route mới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FE2F82-4294-4CEA-8874-9B15981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5715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0A6"/>
          </a:solidFill>
          <a:ln xmlns:a="http://schemas.openxmlformats.org/drawingml/2006/main" w="9525">
            <a:solidFill>
              <a:srgbClr val="FFE0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6E2B7-1E39-4D42-8471-17CC366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4827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74D9"/>
                </a:solidFill>
              </a:defRPr>
            </a:pPr>
            <a:r>
              <a:rPr sz="1200" b="1">
                <a:solidFill>
                  <a:srgbClr val="0474D9"/>
                </a:solidFill>
                <a:latin typeface="Montserrat"/>
                <a:ea typeface="Montserrat"/>
                <a:cs typeface="Montserrat"/>
              </a:rPr>
              <a:t>Ví dụ A*: chọn node có f(n) = g(n) + h(n)</a:t>
            </a:r>
          </a:p>
        </p:txBody>
      </p:sp>
    </p:spTree>
    <p:extLst>
      <p:ext uri="{BB962C8B-B14F-4D97-AF65-F5344CB8AC3E}">
        <p14:creationId xmlns:p14="http://schemas.microsoft.com/office/powerpoint/2010/main" val="73907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88357-7B74-4C6C-B3C1-B7115476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D91A5-2B7E-446C-961D-B6C9404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0C926-CEA7-4376-81EC-A7DDD4BB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1F649-6023-4F44-8D54-28E497EA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6598C-3411-469A-A5C9-9A6E90FB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E308-3283-44C5-80C1-484CF9D7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07 /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9C123-BA2B-427C-BE72-EFDB18E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Thực nghiệm &amp; kết quả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EA3D-704B-46B2-A61D-3B71376F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Đọc kết quả bằng trace, cost, visited nodes và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12B86-9FA0-42A6-AD9C-173B91A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F5D76-5046-479C-A8DF-6AF29D6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8958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1714500" y="2705100"/>
          <a:ext xmlns:a="http://schemas.openxmlformats.org/drawingml/2006/main" cx="4095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73f5d2afbc44c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C926E-1871-4FE8-89AC-CFA3EF1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6667500" y="22669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40384-860D-4FF8-B292-4D83760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3714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E0A6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D717D-BC8D-44F2-B500-4FEAF31E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B71D8-87C7-4A8D-9922-D4EF15D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Cách nói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44B1B-7B6D-4F4B-B264-05FAA7D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A* thường mở ít node hơn baseline khi heuristic phù hợp.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Local Search phù hợp tối ưu thứ tự nhiều đơn.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Complex/CSP/Adversarial xử lý tình huống khó hơn shortest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BF094-D872-4F7B-A87C-9DC2EFE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77450" y="2400300"/>
            <a:ext cx="438150" cy="438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062DF-A703-48B5-8835-CE030C5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5B6A"/>
                </a:solidFill>
              </a:defRPr>
            </a:pPr>
            <a:r>
              <a:rPr sz="1500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Biểu đồ này là minh họa cách đọc metric; demo app sẽ xem số thật trên Defense Lab.</a:t>
            </a:r>
          </a:p>
        </p:txBody>
      </p:sp>
    </p:spTree>
    <p:extLst>
      <p:ext uri="{BB962C8B-B14F-4D97-AF65-F5344CB8AC3E}">
        <p14:creationId xmlns:p14="http://schemas.microsoft.com/office/powerpoint/2010/main" val="735034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5033D-026C-4A85-894A-13C8E8BB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BCFB3-305F-4618-BE3F-D5C1572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C8E5-245F-44F0-BE2F-2B9F2D2E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DE9FB-FCA2-4F25-BE25-4AEF4787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E8AE0-95D9-4881-BEB5-4733547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D86BE-28BA-4942-8815-1638ADE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08 /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B2A70-2447-4CC0-B255-21EC8478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Kịch bản demo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D3ADE-589A-45C2-9332-6AD81A1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Giữ demo 5-7 phút, tập trung vào điều cô cần thấy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E9956-6FEA-41C5-9F2D-69BF843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77322-B6D0-477C-B8F8-FD38D4E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4C0D1-D82B-43AA-82AD-071CC63E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33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E0295-4C65-4B80-832C-4049FBDC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Defense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EFA34-18A2-429B-9D52-5D8C07B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A* step-by-step: frontier, visited, g/h/f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E619E-EBE8-4C02-B897-45D2ECC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6FBEC-8281-4DB3-99F2-0A3241E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E35BE-F7E8-4794-9A68-4A8B38CC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24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So sánh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74C7A-C8EE-46AF-AE7A-67764E4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BFS/UCS hoặc Local Search để thấy khác biệt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6D146-AC08-46AF-BAB6-07B758C2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7BEB8-6A41-43B8-8D67-1C17F11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29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72764-A066-4197-87B4-57FEC3DC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Complex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6ABE9-E26E-4F53-A4B9-AE3FA4E8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Online Replanning hoặc AND-OR conditional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E585A-A183-4905-B22F-322C8F66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D2FC1-4454-4C5C-BF45-0A80074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7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7DF38-A177-4342-9FB3-5FCAE87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Admin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6E9E8-8DB0-41D4-85D3-C74916A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bật/tắt quyền thuật toán theo nhóm shipper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53AA6-5A70-4E3C-B7D7-DA593302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40A51-31AF-4310-B456-C370E7E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24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6E69D-0574-489F-ACF5-7FABCDC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67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Overpass"/>
                <a:ea typeface="Overpass"/>
                <a:cs typeface="Overpass"/>
              </a:rPr>
              <a:t>Shipper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814AC5-CEC6-41E7-9520-954732E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nhận đơn, lập tuyến, xem playback trên bản đồ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63ebe7b674434"/>
          <a:stretch xmlns:a="http://schemas.openxmlformats.org/drawingml/2006/main"/>
        </p:blipFill>
        <p:spPr>
          <a:xfrm xmlns:a="http://schemas.openxmlformats.org/drawingml/2006/main">
            <a:off x="9906000" y="240030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4489d5fd2487e"/>
          <a:stretch xmlns:a="http://schemas.openxmlformats.org/drawingml/2006/main"/>
        </p:blipFill>
        <p:spPr>
          <a:xfrm xmlns:a="http://schemas.openxmlformats.org/drawingml/2006/main">
            <a:off x="9791700" y="3562350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7a400ad664d52"/>
          <a:stretch xmlns:a="http://schemas.openxmlformats.org/drawingml/2006/main"/>
        </p:blipFill>
        <p:spPr>
          <a:xfrm xmlns:a="http://schemas.openxmlformats.org/drawingml/2006/main">
            <a:off x="10429875" y="3562350"/>
            <a:ext cx="514350" cy="51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3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F12B1-8AB6-43FE-BEE5-AD1BB65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8EDDE-1930-4ED9-8C67-5B8AC220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47158-D0E4-4E2F-A604-4A4B7BD5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5386F-185A-475B-A3D7-A2AB7885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DAAA8-F2F1-4125-AA7D-172988C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C134E-81D8-4A08-A410-349A77F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09 /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B3D6-F2F4-4A13-B166-161D3E7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Đánh giá &amp; thảo luận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5CCDF-19B1-44C9-BDA8-A5079A8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Điểm đạt được, hạn chế và hướng phát triển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483F1-17BA-482B-AC16-90D36A3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DFEE4-0A3D-402F-A0E3-07E4905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914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12DDF-6E2B-44A2-8832-6AC933B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14600"/>
            <a:ext cx="2190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9CF58"/>
          </a:solidFill>
          <a:ln xmlns:a="http://schemas.openxmlformats.org/drawingml/2006/main" w="9525">
            <a:solidFill>
              <a:srgbClr val="F9CF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5FA62-2DC6-4049-A172-9EBE193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193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Đạt được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E4126-A8C3-49A2-BB7C-680DF7E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190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9CF58"/>
          </a:solidFill>
          <a:ln xmlns:a="http://schemas.openxmlformats.org/drawingml/2006/main" w="9525">
            <a:solidFill>
              <a:srgbClr val="F9CF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B6BAE-871F-435D-AC8F-35261BA8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193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Hạn chế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60F2C-0012-4514-9AE3-B7206146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2190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9CF58"/>
          </a:solidFill>
          <a:ln xmlns:a="http://schemas.openxmlformats.org/drawingml/2006/main" w="9525">
            <a:solidFill>
              <a:srgbClr val="F9CF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967F8-BAF6-4A63-AE9C-E62D5C70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Phát triển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F1CE1-220A-44C5-969C-A168B82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23"/>
                </a:solidFill>
              </a:defRPr>
            </a:pPr>
            <a:r>
              <a:rPr sz="18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Sản phẩm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86A82-3F3B-46CD-B010-55B63F2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62350"/>
            <a:ext cx="171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UI demo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API + SQLite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trace step-by-step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6 nhóm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6A656-415C-416F-88FA-7AC40058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23"/>
                </a:solidFill>
              </a:defRPr>
            </a:pPr>
            <a:r>
              <a:rPr sz="18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Giới hạn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72500-DBD9-482A-8A57-6D7F6BE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623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Graph cache nhỏ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traffic đơn giản hóa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observation mô phỏng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FE5B4-1718-4A63-84F7-59C6DBA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23"/>
                </a:solidFill>
              </a:defRPr>
            </a:pPr>
            <a:r>
              <a:rPr sz="18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Mở rộng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01FCF-DFEB-403B-9B84-488A8CFB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Custom node/edge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route history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traffic realtime</a:t>
            </a:r>
          </a:p>
          <a:p xmlns:a="http://schemas.openxmlformats.org/drawingml/2006/main">
            <a:pPr algn="ctr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multi-driver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4024E-2360-4765-8D36-6C8F86C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B5C6B-CC1D-46A7-A464-DB58A03F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76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0B6C8-E84F-40F1-8CAE-285A13E9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054CB-E76E-4056-AFF2-EAC18D8A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A078"/>
                </a:solidFill>
              </a:defRPr>
            </a:pPr>
            <a:r>
              <a:rPr sz="1875" b="1">
                <a:solidFill>
                  <a:srgbClr val="1FA078"/>
                </a:solidFill>
                <a:latin typeface="Montserrat"/>
                <a:ea typeface="Montserrat"/>
                <a:cs typeface="Montserrat"/>
              </a:rPr>
              <a:t>Hệ thống ưu tiên khả năng giải thích thuật toán, không chỉ giao diện chạy được.</a:t>
            </a:r>
          </a:p>
        </p:txBody>
      </p:sp>
    </p:spTree>
    <p:extLst>
      <p:ext uri="{BB962C8B-B14F-4D97-AF65-F5344CB8AC3E}">
        <p14:creationId xmlns:p14="http://schemas.microsoft.com/office/powerpoint/2010/main" val="2074556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D3B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92616-5F2B-4511-99AD-01B8993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28996-A630-49DD-9D7C-B2B7E30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"/>
            <a:ext cx="109156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896F7-8763-469D-92F7-EDBCEC1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"/>
            <a:ext cx="10382250" cy="5753100"/>
          </a:xfrm>
          <a:prstGeom xmlns:a="http://schemas.openxmlformats.org/drawingml/2006/main" prst="roundRect">
            <a:avLst>
              <a:gd name="adj" fmla="val 1987"/>
            </a:avLst>
          </a:prstGeom>
          <a:noFill xmlns:a="http://schemas.openxmlformats.org/drawingml/2006/main"/>
          <a:ln xmlns:a="http://schemas.openxmlformats.org/drawingml/2006/main" w="13811">
            <a:solidFill>
              <a:srgbClr val="1B1F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E35A3-00C5-4A58-A21F-543E11B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0" y="5334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1923"/>
                </a:solidFill>
              </a:defRPr>
            </a:pPr>
            <a:r>
              <a:rPr sz="900" b="0">
                <a:solidFill>
                  <a:srgbClr val="171923"/>
                </a:solidFill>
                <a:latin typeface="Playpen Sans"/>
                <a:ea typeface="Playpen Sans"/>
                <a:cs typeface="Playpen Sans"/>
              </a:rPr>
              <a:t>findyourpath.app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7FCBE-9E87-45C5-933C-7CC1693A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Find Your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93AC1-D784-44CB-A910-A3CB8EC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24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5B6A"/>
                </a:solidFill>
              </a:defRPr>
            </a:pPr>
            <a:r>
              <a:rPr sz="900" b="0">
                <a:solidFill>
                  <a:srgbClr val="505B6A"/>
                </a:solidFill>
                <a:latin typeface="Playpen Sans"/>
                <a:ea typeface="Playpen Sans"/>
                <a:cs typeface="Playpen Sans"/>
              </a:rPr>
              <a:t>10 / 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E09E9-4AB3-44AE-A977-0E5356F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923"/>
                </a:solidFill>
              </a:defRPr>
            </a:pPr>
            <a:r>
              <a:rPr sz="33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Kết luận &amp; vấn đáp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93677-7B3D-4D64-B881-7956F514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5B6A"/>
                </a:solidFill>
              </a:defRPr>
            </a:pPr>
            <a:r>
              <a:rPr sz="127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Chốt bài bằng 3 ý, sau đó chuyển sang câu hỏi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2F38A-8B16-4F18-B6DD-1911E962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3D92D-13FD-4551-97DB-854BA85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428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9CF58"/>
          </a:solidFill>
          <a:ln xmlns:a="http://schemas.openxmlformats.org/drawingml/2006/main" w="9525">
            <a:solidFill>
              <a:srgbClr val="F9CF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907E0-F60D-4E0F-A311-E07B321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23"/>
                </a:solidFill>
              </a:defRPr>
            </a:pPr>
            <a:r>
              <a:rPr sz="1200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3 ý chốt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98C01-2DFD-4AB8-ACF8-F8B6263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4D9"/>
                </a:solidFill>
              </a:defRPr>
            </a:pPr>
            <a:r>
              <a:rPr sz="1800" b="1">
                <a:solidFill>
                  <a:srgbClr val="0474D9"/>
                </a:solidFill>
                <a:latin typeface="Overpass"/>
                <a:ea typeface="Overpass"/>
                <a:cs typeface="Overpass"/>
              </a:rPr>
              <a:t>1. Bài toán giao hàng được mô hình hóa thành graph có ràng buộc.</a:t>
            </a:r>
          </a:p>
          <a:p xmlns:a="http://schemas.openxmlformats.org/drawingml/2006/main">
            <a:pPr algn="l">
              <a:defRPr sz="1800" b="1">
                <a:solidFill>
                  <a:srgbClr val="0474D9"/>
                </a:solidFill>
              </a:defRPr>
            </a:pPr>
            <a:r>
              <a:rPr sz="1800" b="1">
                <a:solidFill>
                  <a:srgbClr val="0474D9"/>
                </a:solidFill>
                <a:latin typeface="Overpass"/>
                <a:ea typeface="Overpass"/>
                <a:cs typeface="Overpass"/>
              </a:rPr>
              <a:t>2. 6 nhóm thuật toán giải các tình huống khác nhau.</a:t>
            </a:r>
          </a:p>
          <a:p xmlns:a="http://schemas.openxmlformats.org/drawingml/2006/main">
            <a:pPr algn="l">
              <a:defRPr sz="1800" b="1">
                <a:solidFill>
                  <a:srgbClr val="0474D9"/>
                </a:solidFill>
              </a:defRPr>
            </a:pPr>
            <a:r>
              <a:rPr sz="1800" b="1">
                <a:solidFill>
                  <a:srgbClr val="0474D9"/>
                </a:solidFill>
                <a:latin typeface="Overpass"/>
                <a:ea typeface="Overpass"/>
                <a:cs typeface="Overpass"/>
              </a:rPr>
              <a:t>3. App cho phép xem trace, metric và phân quyền thuật toán.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F8D5-F350-4921-B0B2-B01F3EB0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66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1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04765-0A8B-499F-8102-40ADFF0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59C4F-4C2F-44F4-AAD4-6E3BF94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23"/>
                </a:solidFill>
              </a:defRPr>
            </a:pPr>
            <a:r>
              <a:rPr sz="1575" b="1">
                <a:solidFill>
                  <a:srgbClr val="171923"/>
                </a:solidFill>
                <a:latin typeface="Montserrat"/>
                <a:ea typeface="Montserrat"/>
                <a:cs typeface="Montserrat"/>
              </a:rPr>
              <a:t>Câu hỏi dễ gặp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E37F-85E8-4013-9AB8-8D7775E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2286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State/goal/cost là gì?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Vì sao dùng A*?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AND-OR khác Online Replanning thế nào?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Tại sao không gọi Google Directions/OSRM?</a:t>
            </a:r>
          </a:p>
          <a:p xmlns:a="http://schemas.openxmlformats.org/drawingml/2006/main">
            <a:pPr algn="l">
              <a:defRPr sz="1125" b="0">
                <a:solidFill>
                  <a:srgbClr val="505B6A"/>
                </a:solidFill>
              </a:defRPr>
            </a:pPr>
            <a:r>
              <a:rPr sz="1125" b="0">
                <a:solidFill>
                  <a:srgbClr val="505B6A"/>
                </a:solidFill>
                <a:latin typeface="Overpass"/>
                <a:ea typeface="Overpass"/>
                <a:cs typeface="Overpass"/>
              </a:rPr>
              <a:t>Hạn chế và hướng phát triển?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021FC-0051-4193-A86A-869A433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A078"/>
                </a:solidFill>
              </a:defRPr>
            </a:pPr>
            <a:r>
              <a:rPr sz="2100" b="1">
                <a:solidFill>
                  <a:srgbClr val="1FA078"/>
                </a:solidFill>
                <a:latin typeface="Overpass"/>
                <a:ea typeface="Overpass"/>
                <a:cs typeface="Overpass"/>
              </a:rPr>
              <a:t>Find Your Path không chỉ tìm đường, mà giúp nhìn thấy cách thuật toán ra quyết định.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67B06-65A8-4DA3-8EAF-61DA35BB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0096500" y="5334000"/>
            <a:ext cx="323850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7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30E69-C446-4626-94FF-97E7550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4292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03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468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2026-06-28T22:02:09.8790000Z</dcterms:created>
  <dcterms:modified xsi:type="dcterms:W3CDTF">2026-06-28T22:02:09.8790000Z</dcterms:modified>
</coreProperties>
</file>