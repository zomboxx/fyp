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419cad21b64f36" /><Relationship Type="http://schemas.openxmlformats.org/officeDocument/2006/relationships/extended-properties" Target="/docProps/app.xml" Id="R5dacf36822084c83" /><Relationship Type="http://schemas.openxmlformats.org/officeDocument/2006/relationships/officeDocument" Target="/ppt/presentation.xml" Id="Rc040270a149345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a615831584818"/>
  </p:sldMasterIdLst>
  <p:notesMasterIdLst>
    <p:notesMasterId xmlns:r="http://schemas.openxmlformats.org/officeDocument/2006/relationships" r:id="R374ed453411c4c01"/>
  </p:notesMasterIdLst>
  <p:sldIdLst>
    <p:sldId xmlns:r="http://schemas.openxmlformats.org/officeDocument/2006/relationships" id="256" r:id="Rcc9c79c0068b4cd1"/>
    <p:sldId xmlns:r="http://schemas.openxmlformats.org/officeDocument/2006/relationships" id="257" r:id="R80e2957aa0c34ff8"/>
    <p:sldId xmlns:r="http://schemas.openxmlformats.org/officeDocument/2006/relationships" id="258" r:id="Rc897692463d64348"/>
    <p:sldId xmlns:r="http://schemas.openxmlformats.org/officeDocument/2006/relationships" id="259" r:id="R87b64d1468fc4cac"/>
    <p:sldId xmlns:r="http://schemas.openxmlformats.org/officeDocument/2006/relationships" id="260" r:id="Rfb3019dcee384900"/>
    <p:sldId xmlns:r="http://schemas.openxmlformats.org/officeDocument/2006/relationships" id="261" r:id="R8102c8ad27fc4815"/>
    <p:sldId xmlns:r="http://schemas.openxmlformats.org/officeDocument/2006/relationships" id="262" r:id="R9dd8b598003a4532"/>
    <p:sldId xmlns:r="http://schemas.openxmlformats.org/officeDocument/2006/relationships" id="263" r:id="Rf070cf0c307345e9"/>
    <p:sldId xmlns:r="http://schemas.openxmlformats.org/officeDocument/2006/relationships" id="264" r:id="R63f3287bcaf1437a"/>
    <p:sldId xmlns:r="http://schemas.openxmlformats.org/officeDocument/2006/relationships" id="265" r:id="Rf40156925ac841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99d2219f524723" /><Relationship Type="http://schemas.openxmlformats.org/officeDocument/2006/relationships/slideMaster" Target="/ppt/slideMasters/slideMaster1.xml" Id="Rf5fa615831584818" /><Relationship Type="http://schemas.openxmlformats.org/officeDocument/2006/relationships/notesMaster" Target="/ppt/notesMasters/notesMaster1.xml" Id="R374ed453411c4c01" /><Relationship Type="http://schemas.openxmlformats.org/officeDocument/2006/relationships/presProps" Target="/ppt/presProps.xml" Id="Ra35096b750804418" /><Relationship Type="http://schemas.openxmlformats.org/officeDocument/2006/relationships/tableStyles" Target="/ppt/tableStyles.xml" Id="Rab78c6e71ac8419b" /><Relationship Type="http://schemas.openxmlformats.org/officeDocument/2006/relationships/slide" Target="/ppt/slides/slide1.xml" Id="Rcc9c79c0068b4cd1" /><Relationship Type="http://schemas.openxmlformats.org/officeDocument/2006/relationships/slide" Target="/ppt/slides/slide2.xml" Id="R80e2957aa0c34ff8" /><Relationship Type="http://schemas.openxmlformats.org/officeDocument/2006/relationships/slide" Target="/ppt/slides/slide3.xml" Id="Rc897692463d64348" /><Relationship Type="http://schemas.openxmlformats.org/officeDocument/2006/relationships/slide" Target="/ppt/slides/slide4.xml" Id="R87b64d1468fc4cac" /><Relationship Type="http://schemas.openxmlformats.org/officeDocument/2006/relationships/slide" Target="/ppt/slides/slide5.xml" Id="Rfb3019dcee384900" /><Relationship Type="http://schemas.openxmlformats.org/officeDocument/2006/relationships/slide" Target="/ppt/slides/slide6.xml" Id="R8102c8ad27fc4815" /><Relationship Type="http://schemas.openxmlformats.org/officeDocument/2006/relationships/slide" Target="/ppt/slides/slide7.xml" Id="R9dd8b598003a4532" /><Relationship Type="http://schemas.openxmlformats.org/officeDocument/2006/relationships/slide" Target="/ppt/slides/slide8.xml" Id="Rf070cf0c307345e9" /><Relationship Type="http://schemas.openxmlformats.org/officeDocument/2006/relationships/slide" Target="/ppt/slides/slide9.xml" Id="R63f3287bcaf1437a" /><Relationship Type="http://schemas.openxmlformats.org/officeDocument/2006/relationships/slide" Target="/ppt/slides/slide10.xml" Id="Rf40156925ac8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20af224e024a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8c555e84634336" /><Relationship Type="http://schemas.openxmlformats.org/officeDocument/2006/relationships/notesMaster" Target="/ppt/notesMasters/notesMaster1.xml" Id="R694fd509728a4b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28063e7cb74b38" /><Relationship Type="http://schemas.openxmlformats.org/officeDocument/2006/relationships/notesMaster" Target="/ppt/notesMasters/notesMaster1.xml" Id="Ra2b11865aaf2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c50cd9997452f" /><Relationship Type="http://schemas.openxmlformats.org/officeDocument/2006/relationships/notesMaster" Target="/ppt/notesMasters/notesMaster1.xml" Id="R7f2b096479844c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061330a5d462e" /><Relationship Type="http://schemas.openxmlformats.org/officeDocument/2006/relationships/notesMaster" Target="/ppt/notesMasters/notesMaster1.xml" Id="Ra93a939c87b745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9746070c664ef2" /><Relationship Type="http://schemas.openxmlformats.org/officeDocument/2006/relationships/notesMaster" Target="/ppt/notesMasters/notesMaster1.xml" Id="R846ee693bb0e49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b1d09e1b1f425a" /><Relationship Type="http://schemas.openxmlformats.org/officeDocument/2006/relationships/notesMaster" Target="/ppt/notesMasters/notesMaster1.xml" Id="Rd962c5bb6d384b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2b6b02d2b34cab" /><Relationship Type="http://schemas.openxmlformats.org/officeDocument/2006/relationships/notesMaster" Target="/ppt/notesMasters/notesMaster1.xml" Id="Rc36fa2332a9b48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f2b49c0b574227" /><Relationship Type="http://schemas.openxmlformats.org/officeDocument/2006/relationships/notesMaster" Target="/ppt/notesMasters/notesMaster1.xml" Id="Re2c4949be9f546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c6a6cab494b9e" /><Relationship Type="http://schemas.openxmlformats.org/officeDocument/2006/relationships/notesMaster" Target="/ppt/notesMasters/notesMaster1.xml" Id="R0e865878915440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4c439222384319" /><Relationship Type="http://schemas.openxmlformats.org/officeDocument/2006/relationships/notesMaster" Target="/ppt/notesMasters/notesMaster1.xml" Id="R57a29bdae33b4e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bằng bài toán giao hàng đô thị: nhiều ràng buộc, traffic, deadline, đường bị chặn.</a:t>
            </a:r>
          </a:p>
          <a:p xmlns:a="http://schemas.openxmlformats.org/drawingml/2006/main">
            <a:r>
              <a:t>Nhấn mạnh đây là demo thuật toán có trace, không chỉ app giao hàng.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bài toán bằng ngôn ngữ dễ hiểu: từ vị trí xuất phát, shipper đi qua pickup/dropoff trong môi trường có chi phí.</a:t>
            </a:r>
          </a:p>
          <a:p xmlns:a="http://schemas.openxmlformats.org/drawingml/2006/main">
            <a:r>
              <a:t>Dẫn sang mô hình state/action/goal/cost.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không chỉ là vị trí, mà còn đơn hàng và trạng thái cạnh.</a:t>
            </a:r>
          </a:p>
          <a:p xmlns:a="http://schemas.openxmlformats.org/drawingml/2006/main">
            <a:r>
              <a:t>Cost dựa trên base time, traffic multiplier và penalty trễ/tải.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không chứa logic thuật toán; thuật toán nằm riêng trong src/app/algorithms.</a:t>
            </a:r>
          </a:p>
          <a:p xmlns:a="http://schemas.openxmlformats.org/drawingml/2006/main">
            <a:r>
              <a:t>Service nối nghiệp vụ với thuật toán và dữ liệu SQLite/OSM cache.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hết tên thuật toán. Nói theo vai trò từng nhóm.</a:t>
            </a:r>
          </a:p>
          <a:p xmlns:a="http://schemas.openxmlformats.org/drawingml/2006/main">
            <a:r>
              <a:t>Nếu bị hỏi trọng tâm demo: A*, Online Replanning/AND-OR, Forward Checking, Alpha-Beta.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phao vấn đáp. Mọi thuật toán trả lời theo state, goal, rule, result.</a:t>
            </a:r>
          </a:p>
          <a:p xmlns:a="http://schemas.openxmlformats.org/drawingml/2006/main">
            <a:r>
              <a:t>Với A*: g là chi phí đã đi, h là heuristic tới đích.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gọi biểu đồ là benchmark cuối cùng nếu chưa chạy batch. Đây là minh họa cách đọc metric.</a:t>
            </a:r>
          </a:p>
          <a:p xmlns:a="http://schemas.openxmlformats.org/drawingml/2006/main">
            <a:r>
              <a:t>Trong demo, dùng Defense Lab để xem cost, visited, runtime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Chuẩn bị trước: mở local/Vercel, đăng nhập admin/admin123.</a:t>
            </a:r>
          </a:p>
          <a:p xmlns:a="http://schemas.openxmlformats.org/drawingml/2006/main">
            <a:r>
              <a:t>Không demo quá nhiều thuật toán. Chọn 3 điểm sáng: A*, Complex, admin/shipper.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rõ hạn chế vì đây là demo học thuật.</a:t>
            </a:r>
          </a:p>
          <a:p xmlns:a="http://schemas.openxmlformats.org/drawingml/2006/main">
            <a:r>
              <a:t>Hướng phát triển thực tế: graph lớn hơn, route history, traffic realtime, multi-driver.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câu kết chậm và tự tin, rồi chuyển sang câu hỏi.</a:t>
            </a:r>
          </a:p>
          <a:p xmlns:a="http://schemas.openxmlformats.org/drawingml/2006/main">
            <a:r>
              <a:t>Nếu thời gian thiếu, lướt nhanh slide kết quả hoặc đánh giá.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1c3724b0345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f33dfa67f84d06" /><Relationship Type="http://schemas.openxmlformats.org/officeDocument/2006/relationships/slideLayout" Target="/ppt/slideLayouts/slideLayout1.xml" Id="Rbfd49ad1b2f446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d49ad1b2f446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666473eea4ef7" /><Relationship Type="http://schemas.openxmlformats.org/officeDocument/2006/relationships/image" Target="/ppt/media/image.png" Id="R3de88f81bded4429" /><Relationship Type="http://schemas.openxmlformats.org/officeDocument/2006/relationships/image" Target="/ppt/media/image2.png" Id="R3f40f21c3c224b28" /><Relationship Type="http://schemas.openxmlformats.org/officeDocument/2006/relationships/notesSlide" Target="/ppt/notesSlides/notesSlide1.xml" Id="Re3db3b45b76f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15d2b88a8477f" /><Relationship Type="http://schemas.openxmlformats.org/officeDocument/2006/relationships/notesSlide" Target="/ppt/notesSlides/notesSlide2.xml" Id="R218a19ba7b5e4f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9af4a572e41c1" /><Relationship Type="http://schemas.openxmlformats.org/officeDocument/2006/relationships/notesSlide" Target="/ppt/notesSlides/notesSlide3.xml" Id="R116022ed69a04c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e1c10ce8f4f7c" /><Relationship Type="http://schemas.openxmlformats.org/officeDocument/2006/relationships/notesSlide" Target="/ppt/notesSlides/notesSlide4.xml" Id="R4d28fad3bc3f4e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f654e01fe44e2" /><Relationship Type="http://schemas.openxmlformats.org/officeDocument/2006/relationships/notesSlide" Target="/ppt/notesSlides/notesSlide5.xml" Id="Rd9520143fc8247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c9e5790ba45b7" /><Relationship Type="http://schemas.openxmlformats.org/officeDocument/2006/relationships/notesSlide" Target="/ppt/notesSlides/notesSlide6.xml" Id="R61735ed3db9149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0ddd0fa5f4930" /><Relationship Type="http://schemas.openxmlformats.org/officeDocument/2006/relationships/chart" Target="/ppt/slides/charts/chart1.xml" Id="Rf425cc5215544d24" /><Relationship Type="http://schemas.openxmlformats.org/officeDocument/2006/relationships/notesSlide" Target="/ppt/notesSlides/notesSlide7.xml" Id="R389b16f3cc704c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f466dc9c843ef" /><Relationship Type="http://schemas.openxmlformats.org/officeDocument/2006/relationships/image" Target="/ppt/media/image3.png" Id="R1baa1c3787084dde" /><Relationship Type="http://schemas.openxmlformats.org/officeDocument/2006/relationships/image" Target="/ppt/media/image4.png" Id="R620f588f485842c2" /><Relationship Type="http://schemas.openxmlformats.org/officeDocument/2006/relationships/image" Target="/ppt/media/image5.png" Id="R63fa22bd61894135" /><Relationship Type="http://schemas.openxmlformats.org/officeDocument/2006/relationships/notesSlide" Target="/ppt/notesSlides/notesSlide8.xml" Id="R0d736a5ac8bb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a3b2097fa4e61" /><Relationship Type="http://schemas.openxmlformats.org/officeDocument/2006/relationships/notesSlide" Target="/ppt/notesSlides/notesSlide9.xml" Id="Rd327868c6e4d4c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5bec59c70479e" /><Relationship Type="http://schemas.openxmlformats.org/officeDocument/2006/relationships/notesSlide" Target="/ppt/notesSlides/notesSlide10.xml" Id="R4e8ebbbc924d4725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Node mở rộng minh họa</c:v>
          </c:tx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BFS</c:v>
              </c:pt>
              <c:pt idx="1">
                <c:v>UCS</c:v>
              </c:pt>
              <c:pt idx="2">
                <c:v>A*</c:v>
              </c:pt>
              <c:pt idx="3">
                <c:v>Replan</c:v>
              </c:pt>
              <c:pt idx="4">
                <c:v>A-Beta</c:v>
              </c:pt>
            </c:strLit>
          </c:cat>
          <c:val>
            <c:numLit>
              <c:formatCode>General</c:formatCode>
              <c:ptCount val="5"/>
              <c:pt idx="0">
                <c:v>18</c:v>
              </c:pt>
              <c:pt idx="1">
                <c:v>15</c:v>
              </c:pt>
              <c:pt idx="2">
                <c:v>9</c:v>
              </c:pt>
              <c:pt idx="3">
                <c:v>11</c:v>
              </c:pt>
              <c:pt idx="4">
                <c:v>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7F211-7489-4465-AD41-44B7F684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C9A6E-9561-4E94-A342-1FD55E8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92E91-146B-4024-83C1-2F1E04F8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46795-3D09-4EA1-93E7-E047D2E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9770F-75D8-4103-9833-29E50CD1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D7C4B-B646-4782-8FF5-E6B1DA6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0440C2-D55A-49CF-B76C-EA0D689C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5F15A-981E-411E-A4B5-EFA5C9D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8A50C-2928-4F6B-AADF-01D05930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27765-0DE0-4966-9304-9ED5A31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F626E-FDC1-4772-AF2F-A08E3FDA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55251-F2EE-436B-B237-8BD0F783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7F7AA-A819-445D-8590-70E14972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89746-A1B2-4412-88AF-17D0B3F3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38686-6E69-446A-AED2-C70F7E51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4E202-573C-48B3-A80D-ECD7C585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51FA7-E596-44F1-9647-91257B02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055BB-EA85-4471-9CA2-00A7B26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B799C-F6EE-4EAA-B24E-48D29ACB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CFF40-5E13-4B10-9580-63F00AC1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2A718F-4C24-4F04-AB8D-FAA48D36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DCD5E-C52B-4E63-9D2E-FDBC2CD1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34EB7B-E249-4A4D-B685-A5A43BD0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63FE1-A824-4522-AF63-D26B5BDD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E0D800-B670-4E5A-B343-86F2E154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8E3AB6-0DED-4487-9636-F94B0022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CE95FD-647A-4966-87B2-95E8638E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E3BA37-647F-4077-955E-22D63224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798F29-1857-4C6C-A805-97BC4C46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5D23B7-EFA0-4D39-9368-13C67638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>
              <a:alpha val="9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E8C297-86A4-4522-8BDE-6A28797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FF"/>
                </a:solidFill>
              </a:defRPr>
            </a:pPr>
            <a:r>
              <a:rPr sz="900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53EF0D-35C5-44BA-A29B-A7E98702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5AA"/>
                </a:solidFill>
              </a:defRPr>
            </a:pPr>
            <a:r>
              <a:rPr sz="900" b="0">
                <a:solidFill>
                  <a:srgbClr val="7E95AA"/>
                </a:solidFill>
                <a:latin typeface="Inconsolata"/>
                <a:ea typeface="Inconsolata"/>
                <a:cs typeface="Inconsolata"/>
              </a:rPr>
              <a:t>01 / opening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BE416C-08F9-44C3-B20C-602E89C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0B060B-DF5B-44A8-90C1-122B808C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8FF"/>
                </a:solidFill>
              </a:defRPr>
            </a:pPr>
            <a:r>
              <a:rPr sz="1650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Smart Urban Delivery Planner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050FA5-BD79-4980-AFF4-CB2DAC1D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8E6F2"/>
                </a:solidFill>
              </a:defRPr>
            </a:pPr>
            <a:r>
              <a:rPr sz="172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So sánh 6 nhóm thuật toán AI cho bài toán lập tuyến giao hàng đô thị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6B9977-0BDD-4FC6-8D03-3675A3CC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3429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9C57E7-47C0-4670-890B-AE952E5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320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D8FF"/>
                </a:solidFill>
              </a:defRPr>
            </a:pPr>
            <a:r>
              <a:rPr sz="975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20 phút: trình bày + demo + vấn đáp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927B4F-1A8D-4695-A6D3-2A79E34C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4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17B93-D49B-4380-95E9-C08AF41B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05200"/>
            <a:ext cx="819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C889"/>
                </a:solidFill>
              </a:defRPr>
            </a:pPr>
            <a:r>
              <a:rPr sz="975" b="1">
                <a:solidFill>
                  <a:srgbClr val="08C889"/>
                </a:solidFill>
                <a:latin typeface="Montserrat"/>
                <a:ea typeface="Montserrat"/>
                <a:cs typeface="Montserrat"/>
              </a:rPr>
              <a:t>Nhóm 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1385DD-5C31-4BB9-8502-D55002AA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238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A540E4-E257-45C8-BB36-2361A141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1620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B915D8-74D4-4505-A2B7-12BB3ACF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31445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FF"/>
                </a:solidFill>
              </a:defRPr>
            </a:pPr>
            <a:r>
              <a:rPr sz="1125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LIVE ROUTE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C3A641-5E7B-472A-8630-0B0854C7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476250" cy="-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8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A86912-9FDF-4593-B1E8-C3B3DC7C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76200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8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6A83D8-33F3-4CD3-947B-91E28A5B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57500"/>
            <a:ext cx="381000" cy="-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8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2496EAA-D1F0-4518-BEED-A6F1423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09750"/>
            <a:ext cx="66675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D8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E768CF-BA14-4B98-8C38-3D7FA312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248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674C4D-1286-4A23-B703-176720A8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4B08EA-284E-41DE-B4F0-1312D783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D292CF-7467-458F-85E6-92FADD3A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5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59EEFB-AFA0-4752-9997-0BA693B3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152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88f81bded4429"/>
          <a:stretch xmlns:a="http://schemas.openxmlformats.org/drawingml/2006/main"/>
        </p:blipFill>
        <p:spPr>
          <a:xfrm xmlns:a="http://schemas.openxmlformats.org/drawingml/2006/main">
            <a:off x="8477250" y="1447800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0f21c3c224b28"/>
          <a:stretch xmlns:a="http://schemas.openxmlformats.org/drawingml/2006/main"/>
        </p:blipFill>
        <p:spPr>
          <a:xfrm xmlns:a="http://schemas.openxmlformats.org/drawingml/2006/main">
            <a:off x="10096500" y="18669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8DDE48-22FC-49C5-9949-BBA4BA56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Nguyễn Đức Phát - Nguyễn Văn Thi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GVHD: TS. Phan Thị Huyền Trang</a:t>
            </a:r>
          </a:p>
        </p:txBody>
      </p:sp>
    </p:spTree>
    <p:extLst>
      <p:ext uri="{BB962C8B-B14F-4D97-AF65-F5344CB8AC3E}">
        <p14:creationId xmlns:p14="http://schemas.microsoft.com/office/powerpoint/2010/main" val="1803248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326465-44D1-41C5-A298-08D4BDEC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311A9-6072-4596-92C7-BAA5F9AA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2E0D7-369A-441F-8839-E29BA577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ECD3D-E817-4D8B-9B0A-A5B74E85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973D4-EC11-455D-9B00-91E2DBC5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D8A90-4914-4F82-834E-097FCE2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3AD63-843A-4D8F-B8F3-46070752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8FDC6-DF8A-4913-A143-55A22FC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69EA87-5E1A-41B1-8204-996953C8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35CE9-DEA3-4232-B423-BF023E58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836CB1-6974-40CE-92C4-3D5BB1E9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0FB39-B8BE-4C59-BC87-52D6C2D2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C87FA-BF0F-4423-8DD4-040DCDA5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F5B9A-F7FB-47E8-ADD5-84A3AC20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9FF78A-FF6E-4879-BA4B-E98ED849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2A398C-9402-4545-859D-1F7E9B22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6A31D-3CDD-439F-B7CA-9A0207A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D43CD-FBA2-4E9D-B880-6955B833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FA661-692F-4386-9D12-6BFE0C5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1326EA-63B8-4ACE-B48B-3FCD0461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7E7CD4-DECE-4EC9-B206-DA4A20D2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2F1558-BB15-486E-95C5-E9ED1B6A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BF0AEF-8279-4EC9-94EA-9C2097F9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CA45A-4553-42AC-A5A1-4BA28200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617458-87AF-43F1-8952-5A071389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416F1-F954-4DE8-B672-9A0B07C1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5596D-966D-47D4-8F91-9579A836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08A9C-BB12-4F69-BBE9-13A7D892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DE53EE-BF0B-443D-B461-CA68B131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E0689-DE15-48DD-8C14-A873C5F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98394E-8F78-4085-8A21-34786C70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EA7B1B-7A2F-48E3-97B5-CC6FEA318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3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6E2"/>
                </a:solidFill>
              </a:defRPr>
            </a:pPr>
            <a:r>
              <a:rPr sz="900" b="0">
                <a:solidFill>
                  <a:srgbClr val="C8D6E2"/>
                </a:solidFill>
                <a:latin typeface="Inconsolata"/>
                <a:ea typeface="Inconsolata"/>
                <a:cs typeface="Inconsolata"/>
              </a:rPr>
              <a:t>02 / problem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7F635-4C54-4B28-8C40-AD3D449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Bài toán đặt ra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B48797-B91E-4561-82E8-2BE06BA5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A"/>
                </a:solidFill>
              </a:defRPr>
            </a:pPr>
            <a:r>
              <a:rPr sz="12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Từ nghiệp vụ giao hàng đến mô hình tìm kiếm trên graph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FD951E-F9C0-41CA-9AF2-B090DF5F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AC8EFE-DB1E-4B55-B127-91A480CF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1524000" cy="-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2F5E0-41E4-490E-92FA-99EA72AF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7145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D9C942-211A-4088-8A39-3071659D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1714500" cy="-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07131F-135A-4B05-9C2D-C03769D1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80975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BF8387-C62F-44E4-9E38-FF4C30FE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2000250" cy="-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D64F60-6EEE-42B1-8BBB-20341D22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5A04C9-0180-4339-9462-74DCD8D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E1AFF3-14B4-4C0F-B796-26B096DD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5AC554-A825-4253-9220-A6CA4B69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D0294F-A51E-440B-B8B9-A6480CBC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6B0D3E-6FA2-4BA2-962B-4F03DC99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009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B0426B-9DC5-449B-82C1-86580168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9527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4F1BDB-8E54-43B7-8D83-654839CE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5842F7D-C0DD-4CD8-99BD-EE0DA885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Đầu vào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D8A9F7-9655-47FF-B69C-2AA68741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A"/>
                </a:solidFill>
              </a:defRPr>
            </a:pPr>
            <a:r>
              <a:rPr sz="120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Shipper, đơn hàng, pickup/dropoff, deadline, tải trọng, traffic và cạnh bị chặn.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55CEFC-7729-453C-9977-265C5F02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29527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69EFD2-C953-475E-80ED-153AC86D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7180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B50D2E-9F00-4284-B44C-0B5760AC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Mục tiêu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969E6B-9207-4A14-ADEB-DDA69DD1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A"/>
                </a:solidFill>
              </a:defRPr>
            </a:pPr>
            <a:r>
              <a:rPr sz="120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Tìm tuyến phù hợp, có metric rõ và có thể giải thích khi demo.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F901F2-F1C5-470A-B38C-E7424810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29527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B47BDC-DA92-495C-898A-309E5EC0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76650"/>
            <a:ext cx="66675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3F88F9-779C-460D-855E-0659A30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Khó khăn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5F3106-4A95-49CA-9874-96D35D5D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05300"/>
            <a:ext cx="2457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97A"/>
                </a:solidFill>
              </a:defRPr>
            </a:pPr>
            <a:r>
              <a:rPr sz="120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Ràng buộc nghiệp vụ, thiếu quan sát đầy đủ và disruption bất lợi.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D54CA9F-45A8-4273-89F4-DC8BF8A7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</a:defRPr>
            </a:pPr>
            <a:r>
              <a:rPr sz="15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Câu hỏi bảo vệ chính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BB8AF0-1FD0-4615-9545-81DEA2E0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24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33"/>
                </a:solidFill>
              </a:defRPr>
            </a:pPr>
            <a:r>
              <a:rPr sz="21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Thuật toán nào phù hợp với từng tình huống giao hàng, và vì sao?</a:t>
            </a:r>
          </a:p>
        </p:txBody>
      </p:sp>
    </p:spTree>
    <p:extLst>
      <p:ext uri="{BB962C8B-B14F-4D97-AF65-F5344CB8AC3E}">
        <p14:creationId xmlns:p14="http://schemas.microsoft.com/office/powerpoint/2010/main" val="500515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13564-61F2-47E3-B61A-B4D065A9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3FA23B-FA9E-4DDE-B82D-BC17ED50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E72F4-9F27-4A94-954A-66556262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EA496-92FB-4B7B-8566-AE9B6C95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8E5DD-F7D2-4D1C-99B0-90C4D8F2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14AB8-4E90-4B16-B305-AF912A9C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406AE-988A-4FC1-9037-6D5F1A9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EC952-8AEE-408E-9B78-31D70719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91469-E2DD-4657-8DFA-E531976F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41044-CA0C-455F-8474-273C7187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986F1-3082-4D63-9EFC-435CD372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B14C1-12D5-4111-9F5B-7D98E5A9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73C98B-DAF3-4F87-B12A-82D36AA2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C7FA7-0BE2-4839-923C-49E9AFFC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09099-DE60-4D6E-AB79-C45BBC2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6D61D-9447-4FCD-A567-7096B64D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508EB-A207-418E-9FC0-88D9E32C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2B855-10B5-4535-9ECF-7260D721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8F3E2-84C9-4C2E-B42E-72F8988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7E9BF3-60C6-4A33-99A2-70AA4659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71EE4-C0D9-434D-AE16-39F66D08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D39AE-7A77-4053-81D4-6CCF78F4C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91DD7D-3769-4EA5-9A31-01456F3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04B815-3BC7-4D6D-8176-A96D1A3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4CB2E-C527-4A7C-81AC-93EF1308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79C37-2A92-4D0D-9979-D1D9B49B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E587DB-CCA9-42C9-BCDB-927624ED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B157D8-1724-4DB8-A9B0-289A1A60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E334B9-4C49-40F7-BD5E-F8995744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61196-75FD-4778-8937-46F0381D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37A17E-7864-4B37-B984-D6F99CAD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7355A-9326-4CA7-A1CC-71D5EF13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3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6E2"/>
                </a:solidFill>
              </a:defRPr>
            </a:pPr>
            <a:r>
              <a:rPr sz="900" b="0">
                <a:solidFill>
                  <a:srgbClr val="C8D6E2"/>
                </a:solidFill>
                <a:latin typeface="Inconsolata"/>
                <a:ea typeface="Inconsolata"/>
                <a:cs typeface="Inconsolata"/>
              </a:rPr>
              <a:t>03 /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D803A-8DEE-46F1-8D62-11D4355D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Mô hình hóa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80A40D-9285-4130-84AA-672B313B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A"/>
                </a:solidFill>
              </a:defRPr>
            </a:pPr>
            <a:r>
              <a:rPr sz="12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State, initial state, goal test và cost function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128D06-29B8-470A-BA50-BBE74E87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4F6C74-4DF3-41C7-B469-4585E83D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45745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555B54-55F0-4824-8DE1-DE3725AC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86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</a:defRPr>
            </a:pPr>
            <a:r>
              <a:rPr sz="24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DD13EC-BA3F-49FF-9805-ABD54CD7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43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STATE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86B2AD-3A6F-46E6-95F1-041B684A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67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vị trí</a:t>
            </a:r>
          </a:p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đơn nhận</a:t>
            </a:r>
          </a:p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trạng thái cạnh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67AF42-8028-4C44-AE3C-6E36E945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718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A1B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0CB195-16DC-4385-9408-23D44678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19050">
            <a:solidFill>
              <a:srgbClr val="08C88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F2B10C-01D0-4223-AD0C-C8CDA53C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86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C889"/>
                </a:solidFill>
              </a:defRPr>
            </a:pPr>
            <a:r>
              <a:rPr sz="2400" b="1">
                <a:solidFill>
                  <a:srgbClr val="08C889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0F6DC3-1E44-430F-98A5-82586872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43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INITIAL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B0974E-FBDD-4BA1-9E00-62ABABA0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467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hiện tại</a:t>
            </a:r>
          </a:p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hoặc kho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A61293-9F09-45A4-80F3-7858218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718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A1B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1786E0-4EFA-43BD-A797-38E75BD1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A49112-4048-4EF8-BA97-9E83452A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D166"/>
                </a:solidFill>
              </a:defRPr>
            </a:pPr>
            <a:r>
              <a:rPr sz="2400" b="1">
                <a:solidFill>
                  <a:srgbClr val="FFD166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17CFAD-5E05-49DB-99AA-9F646AF6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GOAL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875B224-CC8D-4FD2-9519-D6BD3ADC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7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pickup</a:t>
            </a:r>
          </a:p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và dropoff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B59399-E5F8-4C82-84FE-0F2A23A5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718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DA1B1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21F1CA-FA06-4A36-9DAE-3873D822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1428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19050">
            <a:solidFill>
              <a:srgbClr val="FF5C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FA42E3-06A2-4CE5-8B6C-544D0CD6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686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5C7A"/>
                </a:solidFill>
              </a:defRPr>
            </a:pPr>
            <a:r>
              <a:rPr sz="2400" b="1">
                <a:solidFill>
                  <a:srgbClr val="FF5C7A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9460E9-AEF4-49C9-891B-BE8E9C8A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432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</a:defRPr>
            </a:pPr>
            <a:r>
              <a:rPr sz="12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COST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D49CF5-ADAD-485F-BDC0-9A558938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67100"/>
            <a:ext cx="106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time + traffic</a:t>
            </a:r>
          </a:p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+ penalty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E114F2-5018-4E05-A408-43C62D5B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8191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1DF289-9B69-4232-A89F-9210F931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57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016632-F2B2-43AA-B982-3A539DE3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010150"/>
            <a:ext cx="784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FF"/>
                </a:solidFill>
              </a:defRPr>
            </a:pPr>
            <a:r>
              <a:rPr sz="1125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DEFENSE NOTE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99CC5E-674F-4AC9-BA00-4BC45D2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244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OSM cache hiển thị bản đồ; quyết định routing do thuật toán Python trong project thực hiện.</a:t>
            </a:r>
          </a:p>
        </p:txBody>
      </p:sp>
    </p:spTree>
    <p:extLst>
      <p:ext uri="{BB962C8B-B14F-4D97-AF65-F5344CB8AC3E}">
        <p14:creationId xmlns:p14="http://schemas.microsoft.com/office/powerpoint/2010/main" val="921243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3B43CB-5671-4BB0-B468-FA8961F3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0E15E-9339-4BE5-8825-C3C5F6F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4B178-F51B-44A5-AE4E-E39E034E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20F95-6034-4D29-8006-4EDFF955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FAE18-25AF-497F-9A92-3EE4B232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43C3A-1264-48F1-89D3-89E21C71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7B621-3E50-4E12-939A-BF3F69FA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17E68-2B8D-4B2C-9404-5F5773E2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64ACA-4E51-4E88-9ED1-92FB1769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DA458E-399F-403C-B5DE-93BDC49F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59AE2-A95B-4EA1-BD97-311DE0DD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FB78B-B4CB-40D6-9E4C-96D4A34C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4EB1E-FC2E-488E-98C6-9D426379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ACCB7-F3E3-4D78-95FA-C77AAE25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34626-2A43-4A38-B96A-9896E5B6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43CAB-A8D2-4302-BBD4-2A829001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77654-86FF-4CE4-8519-11413921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BFFBE-8301-4D36-961C-A529EFDC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EAB9F-0568-4CA0-AAF0-F56A356D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2094C-51B4-4B30-9391-1B5D3307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CA1DD-5F8B-478F-8D93-89FBFC7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BD4BD1-A3D4-4818-93C6-382D479B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505930-95A1-404D-915E-A44AA6E7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3994B-C5CF-45DC-ADF2-809FF198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69AED-AEC9-4BEA-9535-A0B25386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3E8BB2-B21A-47A8-9792-7E3E6F89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3821E-AF64-43C0-AA51-A7A2C86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A67DA-5903-47A2-A9C3-15D31DE3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F766B-CC75-4BFD-92FA-B4B033B5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B7E7A2-4DD6-486A-9B68-22AA5036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>
              <a:alpha val="9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226A3-C534-4A5E-AF45-CCBA2A5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FF"/>
                </a:solidFill>
              </a:defRPr>
            </a:pPr>
            <a:r>
              <a:rPr sz="900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1735D7-C4EB-497B-9818-C0059A49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5AA"/>
                </a:solidFill>
              </a:defRPr>
            </a:pPr>
            <a:r>
              <a:rPr sz="900" b="0">
                <a:solidFill>
                  <a:srgbClr val="7E95AA"/>
                </a:solidFill>
                <a:latin typeface="Inconsolata"/>
                <a:ea typeface="Inconsolata"/>
                <a:cs typeface="Inconsolata"/>
              </a:rPr>
              <a:t>04 /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103691-FD77-479F-8666-B2B7D308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Thiết kế hệ thống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537BDC-BF03-4F8C-84ED-C08D82AF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Luồng dữ liệu từ UI tới thuật toán và trace trả về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AF24B3-31D1-4230-9494-B85D16B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DD0ED0-6BCE-4B65-83A2-E7D1686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AF3866-C00D-498A-B713-51928C84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FC0EF7-E399-4033-BF13-E2A7A5B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Flet UI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25FD63-6FDA-4E19-8359-9264D2D7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62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C8"/>
                </a:solidFill>
              </a:defRPr>
            </a:pPr>
            <a:r>
              <a:rPr sz="1050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Defense Lab / Shipper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64618E-9E5F-4850-BA8A-DAB71FD4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47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45E1F0-5118-4C4F-8F9C-C6D9F42A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5C7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CC70A62-319A-4C00-821A-A05FD79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A2300D-BFA8-4038-9407-5C06CF43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A40D48-5462-4CEA-B517-9B7929D7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81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FastAPI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750E5A-E500-4340-BF36-0726505B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62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C8"/>
                </a:solidFill>
              </a:defRPr>
            </a:pPr>
            <a:r>
              <a:rPr sz="1050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API routers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02C965-46CB-4E46-94FC-4317C7D6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6368B6-E0AC-4887-9835-59AA68C4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48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5C7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265663-E937-4579-9501-EF902F19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205788-64A4-4431-AA6E-537E3A82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479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BBCB19-A9AE-4AFB-B966-2A6F225F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Services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72DE3A-81F7-49FC-8043-EE098BB4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62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C8"/>
                </a:solidFill>
              </a:defRPr>
            </a:pPr>
            <a:r>
              <a:rPr sz="1050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nghiệp vụ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D695D7-6D34-4668-9046-86AB6F07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F0448B-9BCB-480B-AE17-891E3374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48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5C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E9EFF3-40EA-452A-8E8F-A5389C50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90C38F-529A-4BC0-B8CA-34A88DEC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6E5281-1068-4AA1-9B1D-A1B85E1D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AI Core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B5597B-813E-4AFA-B563-C84B5241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8B8C8"/>
                </a:solidFill>
              </a:defRPr>
            </a:pPr>
            <a:r>
              <a:rPr sz="1050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6 nhóm thuật toán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07AA82C-28EC-4042-9187-D0B3B301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7A9CEF-1B3D-471D-AE07-DE9805C4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91050"/>
            <a:ext cx="68580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C3145"/>
          </a:solidFill>
          <a:ln xmlns:a="http://schemas.openxmlformats.org/drawingml/2006/main" w="11430">
            <a:solidFill>
              <a:srgbClr val="23516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F349F36-6CAD-4F7C-B7F6-53484E5C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9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D8FF"/>
                </a:solidFill>
              </a:defRPr>
            </a:pPr>
            <a:r>
              <a:rPr sz="1800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SQLite + OSM graph cache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323C22-BCC5-42FC-9157-4C76F75B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76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6E2"/>
                </a:solidFill>
              </a:defRPr>
            </a:pPr>
            <a:r>
              <a:rPr sz="1125" b="0">
                <a:solidFill>
                  <a:srgbClr val="C8D6E2"/>
                </a:solidFill>
                <a:latin typeface="Overpass"/>
                <a:ea typeface="Overpass"/>
                <a:cs typeface="Overpass"/>
              </a:rPr>
              <a:t>user, nhóm shipper, permission, đơn hàng, graph Quận 1</a:t>
            </a:r>
          </a:p>
        </p:txBody>
      </p:sp>
    </p:spTree>
    <p:extLst>
      <p:ext uri="{BB962C8B-B14F-4D97-AF65-F5344CB8AC3E}">
        <p14:creationId xmlns:p14="http://schemas.microsoft.com/office/powerpoint/2010/main" val="1764526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20E0B0-5E15-4374-A81F-11B3290F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AA4D3-8D59-4A99-93E1-D7870036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3E092-301E-45DF-AD7A-EC0E4CFA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6A695-EBC7-4F9F-A2E3-24B25A13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47E55-AA74-412D-8126-D20EDEF7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AF65B-FF76-46A6-8E09-1050E4FA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B1D7D-B70B-4249-93C4-4CBA960D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A61D0-A827-4077-8BA7-10B989C6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6ED8B-7343-4D2F-815B-8B513C12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06CEC-1B55-4C64-9D22-7A0CE87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CEF60-4937-4841-A52E-56D97F6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77DFA-E497-445E-8A3A-01458658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16CC1-FE13-4AD3-A6FC-1BE619C0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224F97-C171-48A1-BD48-FD2AF8AB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E3895-B561-4D67-992C-26CFCF8C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C613F-ECDC-4022-B7DB-E432D0AC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D3A9D5-1CC6-4A81-B845-8F122C1F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E219AE-8589-48E7-81C4-8C45F68B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0190B-998E-4243-9336-0A48DF8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64106-0739-4B4C-B8CC-31334EE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12E49C-AE57-41F7-A3A2-05A109D2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91EF2-E8D1-4B8D-B4C3-FE8CE4D8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030AB-6E31-4AE1-9333-C25AEB1C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B422B-1916-4C9F-8CCF-9270AAD0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5B3E56-D119-4DDE-AD5E-9023CF2B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AC53B-D334-4B28-80C1-B733648C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BCF6A0-C448-4C22-8AFE-0C1A365C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3B6E9-820F-4127-B3FA-ACDE5B41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B63A93-C06E-404E-AD38-8498D985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FD227-F6CA-40B6-B6CE-C1B7DA3C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86008D-806F-41DE-82CE-A96D8139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A090D9-5DC6-494A-BD1B-89E9F6AA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3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6E2"/>
                </a:solidFill>
              </a:defRPr>
            </a:pPr>
            <a:r>
              <a:rPr sz="900" b="0">
                <a:solidFill>
                  <a:srgbClr val="C8D6E2"/>
                </a:solidFill>
                <a:latin typeface="Inconsolata"/>
                <a:ea typeface="Inconsolata"/>
                <a:cs typeface="Inconsolata"/>
              </a:rPr>
              <a:t>05 / algorithms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FB95B2-EE7A-43B8-8776-331CA88A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6 nhóm thuật toán áp dụng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A5F599-393E-438F-93A0-426328B7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A"/>
                </a:solidFill>
              </a:defRPr>
            </a:pPr>
            <a:r>
              <a:rPr sz="12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Mỗi nhóm giải một lát cắt khác nhau của bài toán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F380EB-691B-4346-82C6-CDDE9548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5C230D-EEAD-4277-AF39-1C070B5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3000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E05538-51F7-4FEE-8A60-53AB1059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95550"/>
            <a:ext cx="723900" cy="4762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A0F9DA-2005-4D38-8D75-BAC15FC3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Uninformed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2A4182-4841-4BC0-A17E-B7DD8BE1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A"/>
                </a:solidFill>
              </a:defRPr>
            </a:pPr>
            <a:r>
              <a:rPr sz="1050" b="0">
                <a:solidFill>
                  <a:srgbClr val="5A697A"/>
                </a:solidFill>
                <a:latin typeface="Inconsolata"/>
                <a:ea typeface="Inconsolata"/>
                <a:cs typeface="Inconsolata"/>
              </a:rPr>
              <a:t>BFS / DFS / UCS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830847-C150-4F99-B38A-B055AE67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baseline tìm đường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87B508-5FE8-44E6-84D8-BEC20DB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86000"/>
            <a:ext cx="3000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F701F8-CB25-42B9-BF34-78D21DF8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95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7962F0-EC93-40EA-993A-B545FEEB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Informed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B85153-1103-41FC-B3CF-996568BEB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52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A"/>
                </a:solidFill>
              </a:defRPr>
            </a:pPr>
            <a:r>
              <a:rPr sz="1050" b="0">
                <a:solidFill>
                  <a:srgbClr val="5A697A"/>
                </a:solidFill>
                <a:latin typeface="Inconsolata"/>
                <a:ea typeface="Inconsolata"/>
                <a:cs typeface="Inconsolata"/>
              </a:rPr>
              <a:t>Greedy / A*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7A9E6E-8D25-42C6-B49C-CB7FA1D6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623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heuristic định hướng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A40873-AE92-48E1-93A0-A97D1FED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86000"/>
            <a:ext cx="3000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0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281325-8A47-47A0-8F1B-966E7800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955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E9B9371-5A15-478D-93FA-A626C3F2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Local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0812E2-C7D3-4A55-A6D7-1F9E2438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A"/>
                </a:solidFill>
              </a:defRPr>
            </a:pPr>
            <a:r>
              <a:rPr sz="1050" b="0">
                <a:solidFill>
                  <a:srgbClr val="5A697A"/>
                </a:solidFill>
                <a:latin typeface="Inconsolata"/>
                <a:ea typeface="Inconsolata"/>
                <a:cs typeface="Inconsolata"/>
              </a:rPr>
              <a:t>Hill / SA / Beam / GA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C32814-DD8B-4303-BF07-358EC56E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tối ưu nhiều đơn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6088E9-1C80-40FC-AC3C-0F7761CB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000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0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1B223E-4DAC-402B-9E2F-8983C917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5E2E64-A412-45AD-9D72-11DB434B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Complex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EEF465-32B4-41B7-88C1-62A92E30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00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A"/>
                </a:solidFill>
              </a:defRPr>
            </a:pPr>
            <a:r>
              <a:rPr sz="1050" b="0">
                <a:solidFill>
                  <a:srgbClr val="5A697A"/>
                </a:solidFill>
                <a:latin typeface="Inconsolata"/>
                <a:ea typeface="Inconsolata"/>
                <a:cs typeface="Inconsolata"/>
              </a:rPr>
              <a:t>Belief / Replan / AND-OR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B4FC2A-E433-43BC-8D82-09E7BABB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thiếu quan sát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4AD112-8FE0-4855-BBAC-FD5FE6C6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33800"/>
            <a:ext cx="3000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0E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B843C7-4F75-4BC3-8B0B-D2837095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43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E28C25-061F-453C-B14C-0E12EF6E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3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CSP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B56787-9E8B-4551-BC88-2BB5CB23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400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A"/>
                </a:solidFill>
              </a:defRPr>
            </a:pPr>
            <a:r>
              <a:rPr sz="1050" b="0">
                <a:solidFill>
                  <a:srgbClr val="5A697A"/>
                </a:solidFill>
                <a:latin typeface="Inconsolata"/>
                <a:ea typeface="Inconsolata"/>
                <a:cs typeface="Inconsolata"/>
              </a:rPr>
              <a:t>MRV / Forward Checking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1D0965-3191-4DEB-BE86-DF07241F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10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ràng buộc hợp lệ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15158F-5FB9-4179-B759-9430A734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33800"/>
            <a:ext cx="300037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2E0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F6A987-2894-4FB8-800D-B22BAFBC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9BA017-ECE9-4E25-A608-5B98DAD6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33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Adversarial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66E0F5B-D209-462F-B174-BEB899DC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97A"/>
                </a:solidFill>
              </a:defRPr>
            </a:pPr>
            <a:r>
              <a:rPr sz="1050" b="0">
                <a:solidFill>
                  <a:srgbClr val="5A697A"/>
                </a:solidFill>
                <a:latin typeface="Inconsolata"/>
                <a:ea typeface="Inconsolata"/>
                <a:cs typeface="Inconsolata"/>
              </a:rPr>
              <a:t>Minimax / Alpha-Beta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D45B62-4729-4EFA-B904-5BB915B1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101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97A"/>
                </a:solidFill>
              </a:defRPr>
            </a:pPr>
            <a:r>
              <a:rPr sz="9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worst-case disruption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BC5C37-842F-46EA-B2B6-BC2762D9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33"/>
                </a:solidFill>
              </a:defRPr>
            </a:pPr>
            <a:r>
              <a:rPr sz="172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Slide chính chỉ nêu vai trò; chi tiết trace để phần demo chứng minh.</a:t>
            </a:r>
          </a:p>
        </p:txBody>
      </p:sp>
    </p:spTree>
    <p:extLst>
      <p:ext uri="{BB962C8B-B14F-4D97-AF65-F5344CB8AC3E}">
        <p14:creationId xmlns:p14="http://schemas.microsoft.com/office/powerpoint/2010/main" val="1619901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6C8F0-AEFB-420E-8EED-D43C05CB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D5293-D5E8-4892-B573-51E0E109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9EB0F-257D-4B6D-BC3E-4959F2B1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31FEA-5132-4F0A-ACD4-B1923D1E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2158AE-5041-41C7-8ACB-D7925B40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94632-64CE-4731-A0FB-21C90E4E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D69A8-6D97-46EF-A0FA-F1201E5C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51504-F751-46C7-8F9D-A4A51399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636A9-5BB1-413F-BEB3-35179469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60DB7-6880-4E19-8EA8-F54B2ED9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A2CCC-1793-4930-8AEC-E088C2AF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AC53C-CF7A-4CE0-991B-2D311796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FB171-CFE2-4EC5-B6E4-EFF6C57E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34514-456F-4D27-925B-8FF81E5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63753-0A65-408C-A575-207509E6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87ECD-C37B-47D1-835A-AE07A4CE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3B434-B2D5-41D2-8B71-856865B6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23F81-9BD5-4B27-A99D-7410A839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D94269-DC0A-41D7-9246-A4D5D148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72813-BABA-45BB-A124-BAC3A77A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BBC44E-C177-4873-9C8A-BCE7AD7F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64C6E6-E81C-4FDD-AE36-4D85F405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EE531-DA0A-47B9-A59C-F055119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AA3BE-E520-4DE6-B1F4-ED598089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DC9D0-A38D-4C1F-9519-A6F45E54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30B8B-5A07-4969-863F-18AF65BE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520F9-EDCD-4040-82E3-1A035E1B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6FF1E6-4BD3-4F88-B707-2C95CA3B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A41DB8-19CA-4BAF-9248-447505C4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4B55E9-4D40-45EE-9F8C-B8A2E291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>
              <a:alpha val="9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5FBEF3-3269-46FB-85C9-7CB1BBB0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FF"/>
                </a:solidFill>
              </a:defRPr>
            </a:pPr>
            <a:r>
              <a:rPr sz="900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5897F1-F326-41BF-BFEF-90AD1944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5AA"/>
                </a:solidFill>
              </a:defRPr>
            </a:pPr>
            <a:r>
              <a:rPr sz="900" b="0">
                <a:solidFill>
                  <a:srgbClr val="7E95AA"/>
                </a:solidFill>
                <a:latin typeface="Inconsolata"/>
                <a:ea typeface="Inconsolata"/>
                <a:cs typeface="Inconsolata"/>
              </a:rPr>
              <a:t>06 / defense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2CFEBD-336A-42F1-9899-8B134C4D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Khung trả lời thuật toán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43537-3ACA-48A2-95F8-CE679B7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State -&gt; goal -&gt; rule -&gt; 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76AB03-4FB8-4A2D-B2C4-7EDF0A0B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F8C428-F908-4680-B6AB-E31169CF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09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907BC5-BB07-41C6-9494-520DE826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813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5DFB45-5EE2-4695-AAB0-96374202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495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9AA7BB-6DAD-49F6-9CBD-F56A7396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38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148370-5BC7-4DAF-8433-17C2EF64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Trạng thái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FC2E19-885D-4D3D-B09B-73B0C54A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shipper ở đâu</a:t>
            </a:r>
          </a:p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biết gì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503407-42FB-46B0-B2F7-8D2600E7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290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C7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442370-B2EB-498E-B47D-D0168E3F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65E39A-6A2A-40C3-9677-4082751D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6E2577-D051-4C85-BC54-5027C51D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95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05546F-9C61-4E11-8AFF-44DBC264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388DB9-0E0A-4168-855C-DA42F60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Mục tiêu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CA1C82-18EF-4B0D-B57D-557A153A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147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pickup/dropoff</a:t>
            </a:r>
          </a:p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ràng buộc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C0DFCE-F521-4A00-B53C-7EB1F25B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290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C7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FA14FF-3BE7-4DFA-821D-6A0851C8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9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FF583F-F0DF-465C-B26C-C33B894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1648DA-665D-4C96-893C-233E9136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95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632EC7-60A1-40D8-8D6A-1804AA85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806CC4-D0E4-42A2-890F-16705EE5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Luật chọn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27A3DF-7640-4C1F-9688-B353A183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frontier, h(n)</a:t>
            </a:r>
          </a:p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domain, α/β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1B40934-BC13-4D06-B65A-BA6CBEAD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290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5C7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0B0F64-72BE-4671-9233-F8750B11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098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21933F-6909-4652-B352-43F9ABA5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3A76F27-7953-4C8E-B019-6C36E7E9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7E5762-4296-435F-BB21-AA853FE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07F0A7-7A97-49B7-8C47-83DF2EEB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Kết quả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25A5248-1987-4164-B294-18479643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147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path, cost</a:t>
            </a:r>
          </a:p>
          <a:p xmlns:a="http://schemas.openxmlformats.org/drawingml/2006/main">
            <a:pPr algn="ctr">
              <a:defRPr sz="1125" b="0">
                <a:solidFill>
                  <a:srgbClr val="A8B8C8"/>
                </a:solidFill>
              </a:defRPr>
            </a:pPr>
            <a:r>
              <a:rPr sz="112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trace, route mới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979510-FABB-4FB7-AB94-6E9787C2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60960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3145"/>
          </a:solidFill>
          <a:ln xmlns:a="http://schemas.openxmlformats.org/drawingml/2006/main" w="9525">
            <a:solidFill>
              <a:srgbClr val="23516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E48880F-841B-46A6-B7CC-FCCCDDFB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D8FF"/>
                </a:solidFill>
              </a:defRPr>
            </a:pPr>
            <a:r>
              <a:rPr sz="1650" b="1">
                <a:solidFill>
                  <a:srgbClr val="00D8FF"/>
                </a:solidFill>
                <a:latin typeface="Inconsolata"/>
                <a:ea typeface="Inconsolata"/>
                <a:cs typeface="Inconsolata"/>
              </a:rPr>
              <a:t>A*: chọn node có f(n) = g(n) + h(n)</a:t>
            </a:r>
          </a:p>
        </p:txBody>
      </p:sp>
    </p:spTree>
    <p:extLst>
      <p:ext uri="{BB962C8B-B14F-4D97-AF65-F5344CB8AC3E}">
        <p14:creationId xmlns:p14="http://schemas.microsoft.com/office/powerpoint/2010/main" val="1080217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067727-E5B9-4B8B-B391-66BDE82B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7A623-6AC8-42BD-B70D-278FBC54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BD54F-651E-427D-8440-7908B13C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C8FBF-C4EA-40F0-AF4F-A82F67A5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7FE82-F2FF-49EB-B60C-8C62D9EA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B22EB-E3B5-4C4D-A5E5-F31044CC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33378-1A0B-4010-AE48-F8AF7F90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A80E1-D901-47D6-AE5A-A7121F02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A3240-657A-4515-874A-3CE5D99D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75A6CE-CDD3-49E2-B3C2-5D88962D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8FC9A-1790-419E-866F-5860D6C9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93E37D-62E2-4245-9A11-2C730950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EB9D2-F037-4525-B7CF-903B44C6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F0E59-7FF3-45CB-921C-A6E96BA2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AF678-730A-4AA0-A321-0CFB8603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920DA-9FF8-4F14-B4CB-69CA1AEA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71A23-397B-4813-A00B-089F3F37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3341D-4288-4386-B5B0-C0666534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6F1550-C4DB-4E76-ADBD-145BDF83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4DCF8-C48E-4352-B400-1375585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C7204-3E42-4666-A6A6-A499ED61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253C0-DA47-40E5-80BA-6D4AA15D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DDEFEE-9620-4581-8491-C81A92D0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F7B486-1C05-40E6-A85E-092A964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8A761-06A4-4A3D-8689-0A0BC03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1AE323-5BE8-45C6-A1BA-01E1B88F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41BC52-DB56-49D9-AAF9-D5668A7E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3BCE0-D08C-45DE-97BB-6F33AC47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AC273-BD3E-45BD-80A8-CE273094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E58AAA-EB41-4D9D-AFAF-F475CC81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9C921B-33A0-4303-B9BB-DC923BC9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C47AF5-3B84-472A-8D04-43AB3AB6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3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6E2"/>
                </a:solidFill>
              </a:defRPr>
            </a:pPr>
            <a:r>
              <a:rPr sz="900" b="0">
                <a:solidFill>
                  <a:srgbClr val="C8D6E2"/>
                </a:solidFill>
                <a:latin typeface="Inconsolata"/>
                <a:ea typeface="Inconsolata"/>
                <a:cs typeface="Inconsolata"/>
              </a:rPr>
              <a:t>07 / results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E441A6-EEBD-4384-963A-E5FF3D3C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Thực nghiệm và kết quả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20DE5D-8228-4901-A9D3-52F5896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A"/>
                </a:solidFill>
              </a:defRPr>
            </a:pPr>
            <a:r>
              <a:rPr sz="12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So sánh bằng trace, cost, visited nodes và runtime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FC6AFD-29DA-4AE6-B72E-5FBE0CC0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C659B1-B861-4FC2-A043-F1E017E4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334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4E0EA"/>
            </a:solidFill>
            <a:prstDash val="solid"/>
          </a:ln>
        </p:spPr>
      </p:sp>
      <p:graphicFrame>
        <p:nvGraphicFramePr>
          <p:cNvPr id="79" name="Chart"/>
          <p:cNvGraphicFramePr/>
          <p:nvPr/>
        </p:nvGraphicFramePr>
        <p:xfrm>
          <a:off xmlns:a="http://schemas.openxmlformats.org/drawingml/2006/main" x="1285875" y="2781300"/>
          <a:ext xmlns:a="http://schemas.openxmlformats.org/drawingml/2006/main" cx="447675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25cc5215544d24"/>
          </a:graphicData>
        </a:graphic>
      </p:graphicFrame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60F6A-59B0-4557-8023-9F387B9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37338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7304A1-7398-4D34-9409-4ACA2C95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298E49-5307-4885-B725-714CB55F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24150"/>
            <a:ext cx="339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FF"/>
                </a:solidFill>
              </a:defRPr>
            </a:pPr>
            <a:r>
              <a:rPr sz="1125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READING THE RESULT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D2599B-5217-4F0D-A12A-9EAE8EC0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90850"/>
            <a:ext cx="312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A* thường mở ít node hơn baseline khi heuristic phù hợp.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Local Search phù hợp tối ưu thứ tự nhiều đơn.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Complex/CSP/Adversarial trả lời các tình huống khó hơn shortest path.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5E4073-4139-4B98-A629-4D0831F5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97A"/>
                </a:solidFill>
              </a:defRPr>
            </a:pPr>
            <a:r>
              <a:rPr sz="150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Biểu đồ minh họa cách đọc metric; demo app sẽ xem số thật trên Defense Lab.</a:t>
            </a:r>
          </a:p>
        </p:txBody>
      </p:sp>
    </p:spTree>
    <p:extLst>
      <p:ext uri="{BB962C8B-B14F-4D97-AF65-F5344CB8AC3E}">
        <p14:creationId xmlns:p14="http://schemas.microsoft.com/office/powerpoint/2010/main" val="1254796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B05BA-B207-4401-B18C-275E1C7B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FBF4C-CAC2-4781-BA92-3571C046B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9F45B1-BCA5-45ED-A675-DE71EDB1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BC234-E38C-4C36-B445-CD975B75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6AC506-4581-4B45-A6B1-25D5CB0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1F5FC-06CD-4F5E-B4FF-1A7C795B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E90D6-397B-4EB4-8240-FCE0F3F9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CE900-6774-487D-BEA6-2D65D588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8A051-4C79-4258-A4CA-95E76EF3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D44BB4-29BF-4451-BD56-9B17936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6452B-F00F-48EA-AE3A-FFAA5BFE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6206A-22D5-4536-B5E8-9AEBDB68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4D913-957E-4DDF-ABE6-224EE6D9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490F9-5D86-4D31-B4A8-B9F9F1DC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A0637-40B0-49A4-8BC5-6883CE0E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9D272-F804-4427-B39E-74F2B6EA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ACD231-5B66-41C5-BFC4-AA73D59D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8A3AC-7E6C-4311-84AD-FD2D80C7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0B490-BDFD-480C-8A6E-035503D0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A9891-2F08-4938-A79B-626DF248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2E6FD7-57F1-4A1A-BBB7-84A6DE81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C805D7-E003-4C7F-83E4-98EF63FA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EDA9FC-9E67-424D-97D4-DC37A3D9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34B5C-7F71-498F-A891-BCF7FB6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4C7BA5-D73B-42B7-B8FC-2CBB956A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407F4D-CD2F-4DCD-AD27-14BE6115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5D58F-DA54-4F83-A1C4-7B037CF6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84E6B0-A025-4599-ADFC-CD9BD4B0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2543A8-04BA-4DF6-95DA-3E5D5D47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8E397C-378B-4482-8368-2CA53FAD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>
              <a:alpha val="9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BDBED7-0DD7-4FCC-A7FE-5D9D7142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FF"/>
                </a:solidFill>
              </a:defRPr>
            </a:pPr>
            <a:r>
              <a:rPr sz="900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A6180C-CB6C-4A3B-8EE4-8740DF3B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5AA"/>
                </a:solidFill>
              </a:defRPr>
            </a:pPr>
            <a:r>
              <a:rPr sz="900" b="0">
                <a:solidFill>
                  <a:srgbClr val="7E95AA"/>
                </a:solidFill>
                <a:latin typeface="Inconsolata"/>
                <a:ea typeface="Inconsolata"/>
                <a:cs typeface="Inconsolata"/>
              </a:rPr>
              <a:t>08 /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C1D2ED-EEF4-4103-AD4D-34409ECF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Kịch bản demo app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1E06BF-6530-405A-BAEF-55241D5D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Giữ demo trong 5-7 phút, tập trung vào điều cô cần thấy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C290F2-0719-496C-A990-B9B5B66E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ECB009-0297-47AC-9611-743106FE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241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FF"/>
                </a:solidFill>
              </a:defRPr>
            </a:pPr>
            <a:r>
              <a:rPr sz="1350" b="1">
                <a:solidFill>
                  <a:srgbClr val="00D8FF"/>
                </a:solidFill>
                <a:latin typeface="Inconsolata"/>
                <a:ea typeface="Inconsolata"/>
                <a:cs typeface="Inconsolata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3428E5-FF60-4E50-B532-0F916433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574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398978-E561-4A94-9356-377CB0C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Defense Lab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633316-040D-4A60-A1A7-0C8B1F63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A* step-by-step: frontier, visited, g/h/f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B96853-27A0-46B4-9101-89105C0D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FF"/>
                </a:solidFill>
              </a:defRPr>
            </a:pPr>
            <a:r>
              <a:rPr sz="1350" b="1">
                <a:solidFill>
                  <a:srgbClr val="00D8FF"/>
                </a:solidFill>
                <a:latin typeface="Inconsolata"/>
                <a:ea typeface="Inconsolata"/>
                <a:cs typeface="Inconsolata"/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0781ED-CC7A-4594-B601-0DE37BBF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1B6CEC-B506-40EC-8749-D65C61AF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So sánh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C664DD-26F0-42EE-86D6-68565C16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33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BFS/UCS hoặc Local Search để thấy khác biệt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8BD45E-32A4-43FC-861B-5C59FBF6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19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FF"/>
                </a:solidFill>
              </a:defRPr>
            </a:pPr>
            <a:r>
              <a:rPr sz="1350" b="1">
                <a:solidFill>
                  <a:srgbClr val="00D8FF"/>
                </a:solidFill>
                <a:latin typeface="Inconsolata"/>
                <a:ea typeface="Inconsolata"/>
                <a:cs typeface="Inconsolata"/>
              </a:rPr>
              <a:t>03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CA135C-39C4-46BD-9039-81A51DEF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528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D8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A9C6488-3F8F-4BD3-A7C8-6B8F669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Complex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D16218-2DA9-4F73-85AD-C7BDB384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Online Replanning hoặc AND-OR conditional plan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EA1C1A-60D9-40EE-8648-E63559DE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FF"/>
                </a:solidFill>
              </a:defRPr>
            </a:pPr>
            <a:r>
              <a:rPr sz="1350" b="1">
                <a:solidFill>
                  <a:srgbClr val="00D8FF"/>
                </a:solidFill>
                <a:latin typeface="Inconsolata"/>
                <a:ea typeface="Inconsolata"/>
                <a:cs typeface="Inconsolata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1FEE29-D27D-40CD-90EF-CDA0BE70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005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C88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2AF850-213A-493B-A5CC-88368C20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Admin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522E2E-228D-4383-8BCB-C1DD053F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bật/tắt quyền thuật toán theo nhóm shipper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186F35-9CB2-4D93-9BAB-12504B9D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FF"/>
                </a:solidFill>
              </a:defRPr>
            </a:pPr>
            <a:r>
              <a:rPr sz="1350" b="1">
                <a:solidFill>
                  <a:srgbClr val="00D8FF"/>
                </a:solidFill>
                <a:latin typeface="Inconsolata"/>
                <a:ea typeface="Inconsolata"/>
                <a:cs typeface="Inconsolata"/>
              </a:rPr>
              <a:t>05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650DC1-DA0D-4206-A6C5-3B1F8D45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8C88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1A3FAB-65A0-42C3-86EE-BA550AAD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Shipper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7EBB39-EA0D-4EEF-B01C-279C7FFA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</a:defRPr>
            </a:pPr>
            <a:r>
              <a:rPr sz="1275" b="0">
                <a:solidFill>
                  <a:srgbClr val="A8B8C8"/>
                </a:solidFill>
                <a:latin typeface="Overpass"/>
                <a:ea typeface="Overpass"/>
                <a:cs typeface="Overpass"/>
              </a:rPr>
              <a:t>nhận đơn, lập tuyến, xem playback trên bản đồ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a1c3787084dde"/>
          <a:stretch xmlns:a="http://schemas.openxmlformats.org/drawingml/2006/main"/>
        </p:blipFill>
        <p:spPr>
          <a:xfrm xmlns:a="http://schemas.openxmlformats.org/drawingml/2006/main">
            <a:off x="10001250" y="2438400"/>
            <a:ext cx="781050" cy="781050"/>
          </a:xfrm>
          <a:prstGeom xmlns:a="http://schemas.openxmlformats.org/drawingml/2006/main" prst="rect">
            <a:avLst/>
          </a:prstGeom>
        </p:spPr>
      </p:pic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0f588f485842c2"/>
          <a:stretch xmlns:a="http://schemas.openxmlformats.org/drawingml/2006/main"/>
        </p:blipFill>
        <p:spPr>
          <a:xfrm xmlns:a="http://schemas.openxmlformats.org/drawingml/2006/main">
            <a:off x="9925050" y="3638550"/>
            <a:ext cx="495300" cy="495300"/>
          </a:xfrm>
          <a:prstGeom xmlns:a="http://schemas.openxmlformats.org/drawingml/2006/main" prst="rect">
            <a:avLst/>
          </a:prstGeom>
        </p:spPr>
      </p:pic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a22bd61894135"/>
          <a:stretch xmlns:a="http://schemas.openxmlformats.org/drawingml/2006/main"/>
        </p:blipFill>
        <p:spPr>
          <a:xfrm xmlns:a="http://schemas.openxmlformats.org/drawingml/2006/main">
            <a:off x="10496550" y="3638550"/>
            <a:ext cx="4953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9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4E4478-2F91-4B9B-8868-D7ECECBA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B34EE-702C-4681-82EF-43FC50A4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A7494-D63A-4646-AEE8-7654D649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6E5FB-3AAE-49A1-8DF4-A63EECE2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3B761-3EB3-40B7-A7B6-8DAD6DB4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6D607-5439-4412-9DDF-3EC6522D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BC296-D606-4354-AF4C-BBD53815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0D4CC5-A2C0-443F-812D-4F8B463C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08254-788F-46AC-9D08-922410B8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ADE07-CC10-4B8B-A163-0A106A6A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80A281-B453-4D45-9909-F36B14AB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B92F6D-C0EC-4400-804F-0CA56FFB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85307C-2B0A-4937-AE18-D6B0D3CD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82D82-90DB-41E1-8E95-57B040E1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AC8CD7-2FEE-4B62-88B3-DD96C785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2A30D-3193-4346-8C36-4C44DAE1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3250D-75FA-49C7-806B-DC0A1C9D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77621-377F-4A7B-8DF9-C58BC74C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E1F5B-50C5-4625-BF95-B0B51209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0CC125-1597-4C65-9FC1-86058623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97961C-CA12-4F67-B0A2-D605DF18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9B407-EC5E-4A55-9D8B-596674EE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BB06D-57B9-45D1-87D1-9432E6AA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0DA0FD-B1C3-4C18-A82A-0542DE9C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FB4E9-F1EB-42EC-AFAC-3ED53C61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E72A7-3611-4AF5-BF0B-AF5561DA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D92618-1440-441A-AAF4-17EC4F90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9A53B2-923A-47DF-958F-C447C4F9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CF84D-0752-4760-AD93-1B4E808E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DDE8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E250D7-8BC3-4457-8709-CB2C104C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3F28F6-86A9-49E7-9AF8-4E7FE85D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7A029F-A941-449D-B97D-A2E82A7B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38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8D6E2"/>
                </a:solidFill>
              </a:defRPr>
            </a:pPr>
            <a:r>
              <a:rPr sz="900" b="0">
                <a:solidFill>
                  <a:srgbClr val="C8D6E2"/>
                </a:solidFill>
                <a:latin typeface="Inconsolata"/>
                <a:ea typeface="Inconsolata"/>
                <a:cs typeface="Inconsolata"/>
              </a:rPr>
              <a:t>09 / discussion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2CB527-7151-4AC7-A4E9-42067FA6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Đánh giá và thảo luận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EA5E35-69B9-4949-B8AF-C53DEEDF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97A"/>
                </a:solidFill>
              </a:defRPr>
            </a:pPr>
            <a:r>
              <a:rPr sz="1275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Điểm đạt được, hạn chế và hướng phát triển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919665-BCA0-4FB8-88CE-8EF82A5D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295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169336-0352-4A4C-8256-46815544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3000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4E0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4FD0FD-09C4-4F53-B6BA-0DAA1EC3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1ED690-76AE-4539-AF5F-876BEBE6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Đạt được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32E40E-55A2-49B1-9476-FCC92917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718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UI demo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API + SQLite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trace step-by-step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6 nhóm AI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0E7A1B-B22D-4AD0-9B61-E51C4327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00300"/>
            <a:ext cx="3000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4E0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CFC189-EAC1-43F6-9577-55A48489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003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521893-3F2E-4EBB-822B-AD255021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Hạn chế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5D781F-393E-4E24-9E3F-7B4ACC9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718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Graph cache nhỏ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traffic giả lập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observation đơn giản hóa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EB605B-748B-436C-9AB0-DAE9F485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000375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4E0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CB7CF9-2D1D-4245-8932-C0B959A6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1047750" cy="571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78BD77-8FB7-48B0-ABD4-34BC87B2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57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Phát triển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7435B8-0EF2-4679-8E0B-C9B34EFA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custom node/edge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route history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traffic realtime</a:t>
            </a:r>
          </a:p>
          <a:p xmlns:a="http://schemas.openxmlformats.org/drawingml/2006/main">
            <a:pPr algn="l">
              <a:defRPr sz="1350" b="0">
                <a:solidFill>
                  <a:srgbClr val="5A697A"/>
                </a:solidFill>
              </a:defRPr>
            </a:pPr>
            <a:r>
              <a:rPr sz="1350" b="0">
                <a:solidFill>
                  <a:srgbClr val="5A697A"/>
                </a:solidFill>
                <a:latin typeface="Overpass"/>
                <a:ea typeface="Overpass"/>
                <a:cs typeface="Overpass"/>
              </a:rPr>
              <a:t>multi-driver routing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31D45B-9C19-4E57-BDF6-7111AD41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816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033"/>
                </a:solidFill>
              </a:defRPr>
            </a:pPr>
            <a:r>
              <a:rPr sz="1575" b="1">
                <a:solidFill>
                  <a:srgbClr val="102033"/>
                </a:solidFill>
                <a:latin typeface="Montserrat"/>
                <a:ea typeface="Montserrat"/>
                <a:cs typeface="Montserrat"/>
              </a:rPr>
              <a:t>Thông điệp chính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0C75AA-39A7-4869-9EF3-AACBA494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1244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C889"/>
                </a:solidFill>
              </a:defRPr>
            </a:pPr>
            <a:r>
              <a:rPr sz="2025" b="1">
                <a:solidFill>
                  <a:srgbClr val="08C889"/>
                </a:solidFill>
                <a:latin typeface="Montserrat"/>
                <a:ea typeface="Montserrat"/>
                <a:cs typeface="Montserrat"/>
              </a:rPr>
              <a:t>Hệ thống ưu tiên khả năng giải thích thuật toán, không chỉ giao diện chạy được.</a:t>
            </a:r>
          </a:p>
        </p:txBody>
      </p:sp>
    </p:spTree>
    <p:extLst>
      <p:ext uri="{BB962C8B-B14F-4D97-AF65-F5344CB8AC3E}">
        <p14:creationId xmlns:p14="http://schemas.microsoft.com/office/powerpoint/2010/main" val="2049592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5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2E293-E16F-4EB7-BE65-23F7CE05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EBEC1-027B-4F08-BE9E-1915F63C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C268D-4F1C-499F-A68E-A80DB331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01568-37D8-4323-912B-AFDCE1F2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89074-BA25-4F5B-81CC-2806F019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E446BF-E2DD-4CC8-9B2F-0726153D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DC8D1-8ED6-4262-88EA-27DA6F4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CBAC8-D0C9-41CF-BEA3-493F4F04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0BBCE-1679-4F93-B014-2824EE53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2D125-9E8F-46BC-82E1-8610BA93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BC382-BA27-4C06-B1E9-2778CA1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3E47B-30D6-4492-9DD3-CDB3FCE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5BFAB-696D-43B5-9028-99477407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F8AD8-4490-46EB-8923-2C992FE2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EC9DCE-4D1A-456B-A8CB-33E0D151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2D204-8595-4727-B544-44610680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766D8-AD18-479A-A331-6ECD019C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699DB-265D-44A5-B5D0-7C475FEF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3400"/>
            <a:ext cx="0" cy="5715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F479C-169A-498F-A53C-79CEE72A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E70220-D227-469E-A828-FC01F635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DF5FE-4A43-40FF-9D5C-98366586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75CD06-9BAD-4231-91A2-B3E761F61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1E338-3297-4595-8837-84A64A09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6C822A-967C-4DFF-A277-7DCC270B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F39B43-8F86-408F-8546-212B9363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C1285-0A53-4E8A-8D48-4763CCA7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16EB43-4B42-40BF-B312-B3193D35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2F4C2-8C30-458D-B328-CD306772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4B86F-149A-488D-A0A4-A645042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1936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39D0A-DDA5-4E8F-ADF7-82F75607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525">
              <a:alpha val="9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3D08C2-42D2-4975-A747-72C0FB41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FF"/>
                </a:solidFill>
              </a:defRPr>
            </a:pPr>
            <a:r>
              <a:rPr sz="900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FIND YOUR PATH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FA8E8D-BB97-4679-B861-70167611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19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E95AA"/>
                </a:solidFill>
              </a:defRPr>
            </a:pPr>
            <a:r>
              <a:rPr sz="900" b="0">
                <a:solidFill>
                  <a:srgbClr val="7E95AA"/>
                </a:solidFill>
                <a:latin typeface="Inconsolata"/>
                <a:ea typeface="Inconsolata"/>
                <a:cs typeface="Inconsolata"/>
              </a:rPr>
              <a:t>10 / closing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2AE9E-68CD-4A77-9A9C-84E04EB9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Kết luận &amp; vấn đáp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844940-438C-4B2F-85B5-47A5D6F6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6191250" cy="23431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324CD1-1C8F-4D9C-A5F3-CD6DD6E5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D3635B-F1AB-4F53-8841-B93B1563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584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FF"/>
                </a:solidFill>
              </a:defRPr>
            </a:pPr>
            <a:r>
              <a:rPr sz="1125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3 TAKEAWAYS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F4400D-0790-4096-912B-C8932CE4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5619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1. Bài toán giao hàng được mô hình hóa thành graph có ràng buộc.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2. 6 nhóm thuật toán giải các tình huống khác nhau.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Overpass"/>
                <a:ea typeface="Overpass"/>
                <a:cs typeface="Overpass"/>
              </a:rPr>
              <a:t>3. App cho phép xem trace, metric và phân quyền thuật toán.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6FCCF8-F3BE-4AB4-8C43-583A0E5B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143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81A2A">
              <a:alpha val="86667"/>
            </a:srgbClr>
          </a:solidFill>
          <a:ln xmlns:a="http://schemas.openxmlformats.org/drawingml/2006/main" w="11430">
            <a:solidFill>
              <a:srgbClr val="1D405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B16C20-F04C-4A73-BEA8-8C82D5C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71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6F136A-2FDD-4A4F-A1FC-72430F71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2410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FF"/>
                </a:solidFill>
              </a:defRPr>
            </a:pPr>
            <a:r>
              <a:rPr sz="1125" b="1">
                <a:solidFill>
                  <a:srgbClr val="00D8FF"/>
                </a:solidFill>
                <a:latin typeface="Montserrat"/>
                <a:ea typeface="Montserrat"/>
                <a:cs typeface="Montserrat"/>
              </a:rPr>
              <a:t>Q&amp;A RADAR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DFD26A-AAE9-4233-A510-F6D7CF3C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0985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State / goal / cost là gì?</a:t>
            </a:r>
          </a:p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Vì sao dùng A*?</a:t>
            </a:r>
          </a:p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AND-OR khác Online Replanning?</a:t>
            </a:r>
          </a:p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Tại sao không gọi Google Directions / OSRM?</a:t>
            </a:r>
          </a:p>
          <a:p xmlns:a="http://schemas.openxmlformats.org/drawingml/2006/main">
            <a:pPr algn="l">
              <a:defRPr sz="1275" b="0">
                <a:solidFill>
                  <a:srgbClr val="D8E6F2"/>
                </a:solidFill>
              </a:defRPr>
            </a:pPr>
            <a:r>
              <a:rPr sz="1275" b="0">
                <a:solidFill>
                  <a:srgbClr val="D8E6F2"/>
                </a:solidFill>
                <a:latin typeface="Overpass"/>
                <a:ea typeface="Overpass"/>
                <a:cs typeface="Overpass"/>
              </a:rPr>
              <a:t>Hạn chế và hướng phát triển?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0B5042-714C-4C67-A642-3C8433AC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2076450" cy="-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8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F3F418-DAF1-484D-BF79-0ECCA0CB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1809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8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5DEB10-4107-40BA-B3D3-BDC7C111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53050"/>
            <a:ext cx="2000250" cy="-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8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895A07-E86B-4F5F-834C-A6E15B59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26670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D8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DCE33D-DF18-4B04-ADB9-18F3C4E1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8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EA97F8-F635-4ABE-B192-9CEFD44A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19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68675E-3032-4B5A-B5D9-09DA46BD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3B5A16-3E6B-431A-BB77-24F5F028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38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B7CAF5-CDB5-4730-9DCD-C8F66E6B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381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C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E7F622-8DD2-4FE9-B701-8D5430DD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769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C889"/>
                </a:solidFill>
              </a:defRPr>
            </a:pPr>
            <a:r>
              <a:rPr sz="2100" b="1">
                <a:solidFill>
                  <a:srgbClr val="08C889"/>
                </a:solidFill>
                <a:latin typeface="Montserrat"/>
                <a:ea typeface="Montserrat"/>
                <a:cs typeface="Montserrat"/>
              </a:rPr>
              <a:t>Find Your Path giúp nhìn thấy cách thuật toán ra quyết định.</a:t>
            </a:r>
          </a:p>
        </p:txBody>
      </p:sp>
    </p:spTree>
    <p:extLst>
      <p:ext uri="{BB962C8B-B14F-4D97-AF65-F5344CB8AC3E}">
        <p14:creationId xmlns:p14="http://schemas.microsoft.com/office/powerpoint/2010/main" val="2033282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2026-06-29T03:12:07.4990000Z</dcterms:created>
  <dcterms:modified xsi:type="dcterms:W3CDTF">2026-06-29T03:12:07.4990000Z</dcterms:modified>
</coreProperties>
</file>