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d103d03b14487" /><Relationship Type="http://schemas.openxmlformats.org/officeDocument/2006/relationships/extended-properties" Target="/docProps/app.xml" Id="R58827b6418c742d7" /><Relationship Type="http://schemas.openxmlformats.org/officeDocument/2006/relationships/officeDocument" Target="/ppt/presentation.xml" Id="R2f589b262cf1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3a6f6b37a4dc2"/>
  </p:sldMasterIdLst>
  <p:notesMasterIdLst>
    <p:notesMasterId xmlns:r="http://schemas.openxmlformats.org/officeDocument/2006/relationships" r:id="R4a3194895bbb45c0"/>
  </p:notesMasterIdLst>
  <p:sldIdLst>
    <p:sldId xmlns:r="http://schemas.openxmlformats.org/officeDocument/2006/relationships" id="256" r:id="R183d4b8696034208"/>
    <p:sldId xmlns:r="http://schemas.openxmlformats.org/officeDocument/2006/relationships" id="257" r:id="Rdbc6b9bc524145c4"/>
    <p:sldId xmlns:r="http://schemas.openxmlformats.org/officeDocument/2006/relationships" id="258" r:id="R1f28008cf8bf433b"/>
    <p:sldId xmlns:r="http://schemas.openxmlformats.org/officeDocument/2006/relationships" id="259" r:id="Rf221720e0b3748b4"/>
    <p:sldId xmlns:r="http://schemas.openxmlformats.org/officeDocument/2006/relationships" id="260" r:id="Rc215c46382504204"/>
    <p:sldId xmlns:r="http://schemas.openxmlformats.org/officeDocument/2006/relationships" id="261" r:id="Re521488f56cf432b"/>
    <p:sldId xmlns:r="http://schemas.openxmlformats.org/officeDocument/2006/relationships" id="262" r:id="R8b0a287d8f5e42dd"/>
    <p:sldId xmlns:r="http://schemas.openxmlformats.org/officeDocument/2006/relationships" id="263" r:id="Rcd06e31727d240ed"/>
    <p:sldId xmlns:r="http://schemas.openxmlformats.org/officeDocument/2006/relationships" id="264" r:id="Rdcbceb363b0a45a1"/>
    <p:sldId xmlns:r="http://schemas.openxmlformats.org/officeDocument/2006/relationships" id="265" r:id="Rc281b4bf776246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a6e69bc9074522" /><Relationship Type="http://schemas.openxmlformats.org/officeDocument/2006/relationships/slideMaster" Target="/ppt/slideMasters/slideMaster1.xml" Id="R73e3a6f6b37a4dc2" /><Relationship Type="http://schemas.openxmlformats.org/officeDocument/2006/relationships/notesMaster" Target="/ppt/notesMasters/notesMaster1.xml" Id="R4a3194895bbb45c0" /><Relationship Type="http://schemas.openxmlformats.org/officeDocument/2006/relationships/presProps" Target="/ppt/presProps.xml" Id="R7bf3740fb25d4989" /><Relationship Type="http://schemas.openxmlformats.org/officeDocument/2006/relationships/tableStyles" Target="/ppt/tableStyles.xml" Id="Rdd64aa6ae594490c" /><Relationship Type="http://schemas.openxmlformats.org/officeDocument/2006/relationships/slide" Target="/ppt/slides/slide1.xml" Id="R183d4b8696034208" /><Relationship Type="http://schemas.openxmlformats.org/officeDocument/2006/relationships/slide" Target="/ppt/slides/slide2.xml" Id="Rdbc6b9bc524145c4" /><Relationship Type="http://schemas.openxmlformats.org/officeDocument/2006/relationships/slide" Target="/ppt/slides/slide3.xml" Id="R1f28008cf8bf433b" /><Relationship Type="http://schemas.openxmlformats.org/officeDocument/2006/relationships/slide" Target="/ppt/slides/slide4.xml" Id="Rf221720e0b3748b4" /><Relationship Type="http://schemas.openxmlformats.org/officeDocument/2006/relationships/slide" Target="/ppt/slides/slide5.xml" Id="Rc215c46382504204" /><Relationship Type="http://schemas.openxmlformats.org/officeDocument/2006/relationships/slide" Target="/ppt/slides/slide6.xml" Id="Re521488f56cf432b" /><Relationship Type="http://schemas.openxmlformats.org/officeDocument/2006/relationships/slide" Target="/ppt/slides/slide7.xml" Id="R8b0a287d8f5e42dd" /><Relationship Type="http://schemas.openxmlformats.org/officeDocument/2006/relationships/slide" Target="/ppt/slides/slide8.xml" Id="Rcd06e31727d240ed" /><Relationship Type="http://schemas.openxmlformats.org/officeDocument/2006/relationships/slide" Target="/ppt/slides/slide9.xml" Id="Rdcbceb363b0a45a1" /><Relationship Type="http://schemas.openxmlformats.org/officeDocument/2006/relationships/slide" Target="/ppt/slides/slide10.xml" Id="Rc281b4bf776246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92d869831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541e017a87453d" /><Relationship Type="http://schemas.openxmlformats.org/officeDocument/2006/relationships/notesMaster" Target="/ppt/notesMasters/notesMaster1.xml" Id="R8ccc31cda394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199e3941f14532" /><Relationship Type="http://schemas.openxmlformats.org/officeDocument/2006/relationships/notesMaster" Target="/ppt/notesMasters/notesMaster1.xml" Id="Rb22940df13e3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5bc8960034325" /><Relationship Type="http://schemas.openxmlformats.org/officeDocument/2006/relationships/notesMaster" Target="/ppt/notesMasters/notesMaster1.xml" Id="R7fdcc97fac7a41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82d5628a6148d1" /><Relationship Type="http://schemas.openxmlformats.org/officeDocument/2006/relationships/notesMaster" Target="/ppt/notesMasters/notesMaster1.xml" Id="Rc3317d838a22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feebbc66a747fd" /><Relationship Type="http://schemas.openxmlformats.org/officeDocument/2006/relationships/notesMaster" Target="/ppt/notesMasters/notesMaster1.xml" Id="R7e28eb71c22247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0234c58394c3e" /><Relationship Type="http://schemas.openxmlformats.org/officeDocument/2006/relationships/notesMaster" Target="/ppt/notesMasters/notesMaster1.xml" Id="Rac928834807b42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3cb631861d4db2" /><Relationship Type="http://schemas.openxmlformats.org/officeDocument/2006/relationships/notesMaster" Target="/ppt/notesMasters/notesMaster1.xml" Id="R362c5a8be61749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267e64ed5747bf" /><Relationship Type="http://schemas.openxmlformats.org/officeDocument/2006/relationships/notesMaster" Target="/ppt/notesMasters/notesMaster1.xml" Id="R6cfdea386f9c47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b9094cb3274b9f" /><Relationship Type="http://schemas.openxmlformats.org/officeDocument/2006/relationships/notesMaster" Target="/ppt/notesMasters/notesMaster1.xml" Id="R7ee07b8adddc4c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378fa9315f4392" /><Relationship Type="http://schemas.openxmlformats.org/officeDocument/2006/relationships/notesMaster" Target="/ppt/notesMasters/notesMaster1.xml" Id="R15b81087e0bb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vấn đề giao hàng xe máy trong đô thị: nhiều điểm, traffic, deadline, đường bị chặn.</a:t>
            </a:r>
          </a:p>
          <a:p xmlns:a="http://schemas.openxmlformats.org/drawingml/2006/main">
            <a:r>
              <a:t>Nhấn mạnh đây là demo học thuật: mục tiêu không chỉ tìm đường, mà giải thích và so sánh thuật toán.</a:t>
            </a:r>
          </a:p>
          <a:p xmlns:a="http://schemas.openxmlformats.org/drawingml/2006/main">
            <a:r>
              <a:t>Canh thời gian: slide này nói dưới 30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Định nghĩa bài toán bằng ngôn ngữ đơn giản: shipper phải đi từ vị trí xuất phát tới pickup/dropoff.</a:t>
            </a:r>
          </a:p>
          <a:p xmlns:a="http://schemas.openxmlformats.org/drawingml/2006/main">
            <a:r>
              <a:t>Nêu rõ khác với shortest path thuần túy: còn traffic, deadline, tải trọng và thông tin chưa chắc chắn.</a:t>
            </a:r>
          </a:p>
          <a:p xmlns:a="http://schemas.openxmlformats.org/drawingml/2006/main">
            <a:r>
              <a:t>Dẫn sang slide sau: muốn giải được thì cần mô hình hóa state, action, goal và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Nếu cô hỏi 'state là gì?', trả lời: không chỉ là vị trí, mà còn đơn hàng và trạng thái cạnh/traffic/blocked.</a:t>
            </a:r>
          </a:p>
          <a:p xmlns:a="http://schemas.openxmlformats.org/drawingml/2006/main">
            <a:r>
              <a:t>Nếu cô hỏi 'goal test là gì?', trả lời: đã đi qua các pickup/dropoff cần thiết theo ràng buộc.</a:t>
            </a:r>
          </a:p>
          <a:p xmlns:a="http://schemas.openxmlformats.org/drawingml/2006/main">
            <a:r>
              <a:t>Nếu cô hỏi 'cost tính thế nào?', trả lời: dựa trên base time, traffic multiplier và penalty deadline/tải trọng.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ngắn: UI không chứa logic thuật toán, thuật toán nằm riêng trong src/app/algorithms.</a:t>
            </a:r>
          </a:p>
          <a:p xmlns:a="http://schemas.openxmlformats.org/drawingml/2006/main">
            <a:r>
              <a:t>API routers nhận request, service xử lý nghiệp vụ, algorithms trả route/trace/metrics.</a:t>
            </a:r>
          </a:p>
          <a:p xmlns:a="http://schemas.openxmlformats.org/drawingml/2006/main">
            <a:r>
              <a:t>SQLite phục vụ demo phân quyền, đơn hàng; OSM cache giúp không phụ thuộc routing service bên ngoài.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hết tên thuật toán quá lâu. Nói theo vai trò: baseline, heuristic, tối ưu thứ tự, môi trường phức tạp, ràng buộc, đối kháng.</a:t>
            </a:r>
          </a:p>
          <a:p xmlns:a="http://schemas.openxmlformats.org/drawingml/2006/main">
            <a:r>
              <a:t>Nếu bị hỏi thuật toán nào là trọng tâm demo: chọn A*, Online Replanning/AND-OR, Forward Checking, Alpha-Beta.</a:t>
            </a:r>
          </a:p>
          <a:p xmlns:a="http://schemas.openxmlformats.org/drawingml/2006/main">
            <a:r>
              <a:t>Nhấn mạnh tất cả được cài trong project, không gọi dịch vụ routing ngoài để thay thế.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là phao vấn đáp: bất kỳ thuật toán nào cũng trả lời theo state, goal, rule, result.</a:t>
            </a:r>
          </a:p>
          <a:p xmlns:a="http://schemas.openxmlformats.org/drawingml/2006/main">
            <a:r>
              <a:t>Với A*: g là chi phí đã đi, h là heuristic tới đích, f là tiêu chí chọn node.</a:t>
            </a:r>
          </a:p>
          <a:p xmlns:a="http://schemas.openxmlformats.org/drawingml/2006/main">
            <a:r>
              <a:t>Với CSP: state là assignment, action là gán biến, rule là constraint propagation.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khẳng định số liệu biểu đồ là benchmark cuối cùng nếu chưa chạy batch. Gọi đây là minh họa cách đọc metric.</a:t>
            </a:r>
          </a:p>
          <a:p xmlns:a="http://schemas.openxmlformats.org/drawingml/2006/main">
            <a:r>
              <a:t>Khi demo, dùng Defense Lab để chỉ path, visited, cost, runtime và trace.</a:t>
            </a:r>
          </a:p>
          <a:p xmlns:a="http://schemas.openxmlformats.org/drawingml/2006/main">
            <a:r>
              <a:t>Nếu cô hỏi kết quả tốt nhất: trả lời phụ thuộc tiêu chí, A* tốt cho path có heuristic, Local Search tốt cho thứ tự nhiều đơn.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Chuẩn bị trước: mở local/Vercel, đăng nhập admin/admin123.</a:t>
            </a:r>
          </a:p>
          <a:p xmlns:a="http://schemas.openxmlformats.org/drawingml/2006/main">
            <a:r>
              <a:t>Không demo quá nhiều thuật toán. Chọn 3 điểm sáng: A*, Complex, quyền admin/shipper.</a:t>
            </a:r>
          </a:p>
          <a:p xmlns:a="http://schemas.openxmlformats.org/drawingml/2006/main">
            <a:r>
              <a:t>Khi thao tác app, vừa click vừa nói 'màn hình này chứng minh điều gì'.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Đừng né hạn chế. Nói rõ vì đây là demo học thuật nên một số mô hình được đơn giản hóa.</a:t>
            </a:r>
          </a:p>
          <a:p xmlns:a="http://schemas.openxmlformats.org/drawingml/2006/main">
            <a:r>
              <a:t>Nếu cô hỏi 'vì sao chưa dùng traffic realtime?', trả lời: scope cuối kỳ, hiện dùng traffic giả lập để thuật toán có thể giải thích và kiểm thử.</a:t>
            </a:r>
          </a:p>
          <a:p xmlns:a="http://schemas.openxmlformats.org/drawingml/2006/main">
            <a:r>
              <a:t>Nếu cô hỏi hướng phát triển thực tế: lưu custom node/edge vào DB, thêm route history và multi-driver routing.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câu kết chậm, tự tin, rồi chuyển sang 'em xin sẵn sàng trả lời câu hỏi'.</a:t>
            </a:r>
          </a:p>
          <a:p xmlns:a="http://schemas.openxmlformats.org/drawingml/2006/main">
            <a:r>
              <a:t>Nếu thời gian thiếu, bỏ bớt slide 7 hoặc nói slide 9 rất nhanh.</a:t>
            </a:r>
          </a:p>
          <a:p xmlns:a="http://schemas.openxmlformats.org/drawingml/2006/main">
            <a:r>
              <a:t>Nếu cô hỏi sâu, dùng slide 6 làm khung trả lời.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59f7d1b8446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1061fcef624101" /><Relationship Type="http://schemas.openxmlformats.org/officeDocument/2006/relationships/slideLayout" Target="/ppt/slideLayouts/slideLayout1.xml" Id="R702a176df2f8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a176df2f8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10e0ca87145b5" /><Relationship Type="http://schemas.openxmlformats.org/officeDocument/2006/relationships/image" Target="/ppt/media/image.png" Id="R16a7d071c7d14b6b" /><Relationship Type="http://schemas.openxmlformats.org/officeDocument/2006/relationships/image" Target="/ppt/media/image2.png" Id="Raaea4e27caa443d8" /><Relationship Type="http://schemas.openxmlformats.org/officeDocument/2006/relationships/image" Target="/ppt/media/image3.png" Id="Rd407e67519434d8b" /><Relationship Type="http://schemas.openxmlformats.org/officeDocument/2006/relationships/notesSlide" Target="/ppt/notesSlides/notesSlide1.xml" Id="Rfda8b6946201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0f15107574e27" /><Relationship Type="http://schemas.openxmlformats.org/officeDocument/2006/relationships/image" Target="/ppt/media/image4.png" Id="R7e089967a56a4a72" /><Relationship Type="http://schemas.openxmlformats.org/officeDocument/2006/relationships/image" Target="/ppt/media/image5.png" Id="R62795eff54e342c9" /><Relationship Type="http://schemas.openxmlformats.org/officeDocument/2006/relationships/image" Target="/ppt/media/image6.png" Id="Rc527639a0b6742a0" /><Relationship Type="http://schemas.openxmlformats.org/officeDocument/2006/relationships/notesSlide" Target="/ppt/notesSlides/notesSlide2.xml" Id="Rf5918cde990a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66e6fcf944f49" /><Relationship Type="http://schemas.openxmlformats.org/officeDocument/2006/relationships/notesSlide" Target="/ppt/notesSlides/notesSlide3.xml" Id="Rb0ac8699425540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f78ef99f54671" /><Relationship Type="http://schemas.openxmlformats.org/officeDocument/2006/relationships/image" Target="/ppt/media/image7.png" Id="Rdd40b93034254875" /><Relationship Type="http://schemas.openxmlformats.org/officeDocument/2006/relationships/image" Target="/ppt/media/image8.png" Id="R7982d350775b422e" /><Relationship Type="http://schemas.openxmlformats.org/officeDocument/2006/relationships/notesSlide" Target="/ppt/notesSlides/notesSlide4.xml" Id="R84c05ed56478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7670485f04626" /><Relationship Type="http://schemas.openxmlformats.org/officeDocument/2006/relationships/notesSlide" Target="/ppt/notesSlides/notesSlide5.xml" Id="R10fa10da8cd645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caa2e13f4143" /><Relationship Type="http://schemas.openxmlformats.org/officeDocument/2006/relationships/notesSlide" Target="/ppt/notesSlides/notesSlide6.xml" Id="R78ea77cf79af4e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1699e8994665" /><Relationship Type="http://schemas.openxmlformats.org/officeDocument/2006/relationships/chart" Target="/ppt/slides/charts/chart1.xml" Id="R8a4c3915b4a849fe" /><Relationship Type="http://schemas.openxmlformats.org/officeDocument/2006/relationships/notesSlide" Target="/ppt/notesSlides/notesSlide7.xml" Id="Re142874421cb4d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cf41ede354650" /><Relationship Type="http://schemas.openxmlformats.org/officeDocument/2006/relationships/image" Target="/ppt/media/image9.png" Id="R294b8a17f06042d4" /><Relationship Type="http://schemas.openxmlformats.org/officeDocument/2006/relationships/image" Target="/ppt/media/image10.png" Id="R518113aed16e48f7" /><Relationship Type="http://schemas.openxmlformats.org/officeDocument/2006/relationships/image" Target="/ppt/media/image11.png" Id="Rfd9bae9216f64a0b" /><Relationship Type="http://schemas.openxmlformats.org/officeDocument/2006/relationships/notesSlide" Target="/ppt/notesSlides/notesSlide8.xml" Id="Read0d5176cd040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92fca5f8d4b67" /><Relationship Type="http://schemas.openxmlformats.org/officeDocument/2006/relationships/notesSlide" Target="/ppt/notesSlides/notesSlide9.xml" Id="R77f173dc28df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227fe25a6455f" /><Relationship Type="http://schemas.openxmlformats.org/officeDocument/2006/relationships/notesSlide" Target="/ppt/notesSlides/notesSlide10.xml" Id="R6824c6a42c44441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Số node mở rộng minh họa</c:v>
          </c:tx>
          <c:spPr>
            <a:solidFill xmlns:a="http://schemas.openxmlformats.org/drawingml/2006/main">
              <a:srgbClr val="0B74D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BFS</c:v>
              </c:pt>
              <c:pt idx="1">
                <c:v>UCS</c:v>
              </c:pt>
              <c:pt idx="2">
                <c:v>A*</c:v>
              </c:pt>
              <c:pt idx="3">
                <c:v>Replan</c:v>
              </c:pt>
              <c:pt idx="4">
                <c:v>Alpha-Beta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15</c:v>
              </c:pt>
              <c:pt idx="2">
                <c:v>9</c:v>
              </c:pt>
              <c:pt idx="3">
                <c:v>11</c:v>
              </c:pt>
              <c:pt idx="4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5F991-405B-4F78-A337-56AB8EFA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DA727-AA26-4DC5-80B6-83C4805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2B5A0-49B1-4DFD-BA07-F951E5FF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FAD50-2F76-4938-A0AD-16D6D27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4DE"/>
                </a:solidFill>
              </a:defRPr>
            </a:pPr>
            <a:r>
              <a:rPr sz="1800" b="1">
                <a:solidFill>
                  <a:srgbClr val="0B74DE"/>
                </a:solidFill>
              </a:rPr>
              <a:t>Smart Urban Delivery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39103-7D6E-4E01-9A71-9B5FEC1E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5"/>
                </a:solidFill>
              </a:defRPr>
            </a:pPr>
            <a:r>
              <a:rPr sz="1650" b="0">
                <a:solidFill>
                  <a:srgbClr val="5B6675"/>
                </a:solidFill>
              </a:rPr>
              <a:t>Demo so sánh 6 nhóm thuật toán AI cho bài toán lập tuyến giao hàng đô thị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D7EB-562F-4325-A95D-63F26BA2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429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EAF2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4B8F"/>
                </a:solidFill>
              </a:defRPr>
            </a:pPr>
            <a:r>
              <a:rPr sz="1125" b="1">
                <a:solidFill>
                  <a:srgbClr val="074B8F"/>
                </a:solidFill>
              </a:rPr>
              <a:t>20 phút: trình bày + demo + vấn đáp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F3276-4883-4B67-8440-B429D69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1066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9D72"/>
                </a:solidFill>
              </a:defRPr>
            </a:pPr>
            <a:r>
              <a:rPr sz="1125" b="1">
                <a:solidFill>
                  <a:srgbClr val="1F9D72"/>
                </a:solidFill>
              </a:rPr>
              <a:t>Nhóm 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d071c7d14b6b"/>
          <a:stretch xmlns:a="http://schemas.openxmlformats.org/drawingml/2006/main"/>
        </p:blipFill>
        <p:spPr>
          <a:xfrm xmlns:a="http://schemas.openxmlformats.org/drawingml/2006/main">
            <a:off x="8334375" y="11239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4e27caa443d8"/>
          <a:stretch xmlns:a="http://schemas.openxmlformats.org/drawingml/2006/main"/>
        </p:blipFill>
        <p:spPr>
          <a:xfrm xmlns:a="http://schemas.openxmlformats.org/drawingml/2006/main">
            <a:off x="10191750" y="306705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7e67519434d8b"/>
          <a:stretch xmlns:a="http://schemas.openxmlformats.org/drawingml/2006/main"/>
        </p:blipFill>
        <p:spPr>
          <a:xfrm xmlns:a="http://schemas.openxmlformats.org/drawingml/2006/main">
            <a:off x="10839450" y="24955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E55CC-04CE-4BB9-B816-C873218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Nguyễn Đức Phát - Nguyễn Văn Thi</a:t>
            </a:r>
          </a:p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GVHD: TS. Phan Thị Huyền Trang</a:t>
            </a:r>
          </a:p>
        </p:txBody>
      </p:sp>
    </p:spTree>
    <p:extLst>
      <p:ext uri="{BB962C8B-B14F-4D97-AF65-F5344CB8AC3E}">
        <p14:creationId xmlns:p14="http://schemas.microsoft.com/office/powerpoint/2010/main" val="1593770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F821E-A0C5-44F4-A4EC-8208F275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I.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CD87E-F9BE-4EA6-9067-E3CBDB45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76596-E727-4FED-859F-1343705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Bài toán đặt 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D7E65-0D50-44CC-B139-C85A4FD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Từ giao hàng thực tế đến mô hình tìm kiếm trên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531C2-2864-4C1B-865F-9AB73DD7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9894E-9790-458C-A207-36FFB339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8152A-47DF-46B4-B5E1-F906857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F6A84-0F40-40BA-97DA-51E8DCB0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Đầu vào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05418-28E1-400D-BE80-63A3906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Shipper, đơn hàng, pickup/dropoff, deadline, tải trọng, traffic và cạnh bị chặn.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A85CB-1B27-4BF2-8003-1867DA3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3C4FB-D454-4A80-8F42-876E0745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FA777-C963-4503-AE11-5EC2ED7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86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Mục tiêu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C5040-F835-4F8A-8CD0-237B50C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6705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Tìm tuyến phù hợp, có thể giải thích, và đủ ổn định để demo trên bản đồ.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9556C-F2F6-4E6A-B30B-B8CECE1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157E4-DA4B-4414-B899-FBC830F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6DEFA-D569-4B32-98B1-43EDD75E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Khó khăn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71C6D-7563-4690-BE64-BD5F9ACB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Môi trường có ràng buộc, thiếu quan sát đầy đủ và có disruption bất lợi.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E671E-1A30-4D47-A016-8C4C7CA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Câu hỏi bảo vệ chính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EEE34-72C4-444D-9F0A-B9BF455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4B8F"/>
                </a:solidFill>
              </a:defRPr>
            </a:pPr>
            <a:r>
              <a:rPr sz="2100" b="1">
                <a:solidFill>
                  <a:srgbClr val="074B8F"/>
                </a:solidFill>
              </a:rPr>
              <a:t>Thuật toán nào phù hợp với từng tình huống giao hàng, và vì sao?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89967a56a4a72"/>
          <a:stretch xmlns:a="http://schemas.openxmlformats.org/drawingml/2006/main"/>
        </p:blipFill>
        <p:spPr>
          <a:xfrm xmlns:a="http://schemas.openxmlformats.org/drawingml/2006/main">
            <a:off x="9334500" y="46482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95eff54e342c9"/>
          <a:stretch xmlns:a="http://schemas.openxmlformats.org/drawingml/2006/main"/>
        </p:blipFill>
        <p:spPr>
          <a:xfrm xmlns:a="http://schemas.openxmlformats.org/drawingml/2006/main">
            <a:off x="10020300" y="46482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7639a0b6742a0"/>
          <a:stretch xmlns:a="http://schemas.openxmlformats.org/drawingml/2006/main"/>
        </p:blipFill>
        <p:spPr>
          <a:xfrm xmlns:a="http://schemas.openxmlformats.org/drawingml/2006/main">
            <a:off x="10706100" y="4648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7F7B8-3A22-4001-A583-C2D41389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30E8F-9C1F-496E-9FE3-C2680C1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697603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CAF63-C713-48F1-92BC-3A34CACB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I.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FF1A2-D9BF-42B4-968F-7F7F5D8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04DF3-1102-4B88-943F-CA40C6A4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Mô hình hóa bài toán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A55FA-EF93-4545-A8BF-1614A3C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Graph + đơn hàng + hàm chi phí + trạng thái môi trường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E3CA2-C5A9-4FA0-A10C-7A211FBF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5364C-6EFE-4EA5-9BB4-9B816C3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9525">
            <a:solidFill>
              <a:srgbClr val="0B7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70B68-DB2F-45F0-9687-1C1A8DD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805FC-A0C2-4DB8-A3EF-2FCB0ED2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CE13D-8EC6-44FB-8D81-C258DCD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47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vị trí shipper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đơn đã nhận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trạng thái cạnh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586DD-2F7F-4052-A6D2-3567BB0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146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990E7-C746-4945-AAF8-99D4A976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62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9525">
            <a:solidFill>
              <a:srgbClr val="1F9D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85E6B-6D1D-459B-8020-28AC8C1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6DA9E-FD7D-4556-9721-E73CD4F3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Initial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4205F-A560-4499-A730-D4E785D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47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vị trí hiện tại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hoặc kho xuất phát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DA651-0E16-4C8B-A066-EA3289BA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146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CF565-01C5-492A-8D55-5EC3F456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100"/>
          </a:solidFill>
          <a:ln xmlns:a="http://schemas.openxmlformats.org/drawingml/2006/main" w="9525">
            <a:solidFill>
              <a:srgbClr val="E6A1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D57FE-62BC-4906-BFC7-95B3F77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2E181-72D9-466C-B78C-4CA46C4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63755-171C-4702-8EF5-A786998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hoàn tất pickup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và dropoff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E0C9E-64F4-4107-B453-923318A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146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DFFF2-5A12-483C-B570-B4742722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62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50"/>
          </a:solidFill>
          <a:ln xmlns:a="http://schemas.openxmlformats.org/drawingml/2006/main" w="9525">
            <a:solidFill>
              <a:srgbClr val="D6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4BFA3-4B4C-44D8-A8F0-FD14AB97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336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2FE56-5D47-4DCE-AD9D-97C442B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266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EF6F-0C2A-4B07-B83C-3419687B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647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thời gian + traffic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</a:defRPr>
            </a:pPr>
            <a:r>
              <a:rPr sz="1275" b="0">
                <a:solidFill>
                  <a:srgbClr val="5B6675"/>
                </a:solidFill>
              </a:rPr>
              <a:t>+ penalty trễ/tải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A32F7-F3DE-43BC-9878-BC5FEF3E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Điểm cần nhấn mạnh khi vấn đáp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EEFB0-094C-4596-990F-59E1BCE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4B8F"/>
                </a:solidFill>
              </a:defRPr>
            </a:pPr>
            <a:r>
              <a:rPr sz="1800" b="1">
                <a:solidFill>
                  <a:srgbClr val="074B8F"/>
                </a:solidFill>
              </a:rPr>
              <a:t>App dùng OSM cache để hiển thị bản đồ, nhưng quyết định routing do thuật toán Python trong project thực hiện.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89750-E01C-426A-A9C5-D40181F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50DA8-6985-4B80-8C10-7571955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656471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3FCCD-F001-4C19-986D-AB5EEEC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II.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0B4B0-22F8-4ABE-80DD-A21FE88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4D18F-9276-4527-A8B6-3165DAD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Thiết kế hệ thống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8FB8D-E681-4A1F-880F-05A09E1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Tách UI, API, service, thuật toán và dữ liệu để dễ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DDB02-B995-419E-B18F-71C5C3C1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FF8E-7EDF-42B1-B330-F8AC26E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75A33-5197-4F5D-9BB1-0706FA5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Flet UI</a:t>
            </a:r>
          </a:p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Defense Lab / Shipper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1D6FA-5ADF-4F87-AA57-4C0F2A8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663FB-501F-4C17-A3AA-8A18FC30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9D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451BC-AFA7-46F7-905B-01878A6C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API routers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3BD97-C352-4985-BFD3-128332EB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3B846-B0AB-4704-AB55-C981F43A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1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F496E-205E-44D9-B70E-2106944B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479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Services</a:t>
            </a:r>
          </a:p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nghiệp vụ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08AD-E5BE-45D2-9D3D-4503C3B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A6DFA-9943-4761-AB8F-1ED3A71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4B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744E4-48E6-4BCE-A6DE-D61A931A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Algorithms</a:t>
            </a:r>
          </a:p>
          <a:p xmlns:a="http://schemas.openxmlformats.org/drawingml/2006/main"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6 nhóm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18089-E8C5-4126-BF04-7AD0F6F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71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BBD7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F415F-A43D-475B-A396-01BDC53B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4B8F"/>
                </a:solidFill>
              </a:defRPr>
            </a:pPr>
            <a:r>
              <a:rPr sz="1650" b="1">
                <a:solidFill>
                  <a:srgbClr val="074B8F"/>
                </a:solidFill>
              </a:rPr>
              <a:t>SQLite + OSM graph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09575-E71A-4ABE-8314-14EEA60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</a:defRPr>
            </a:pPr>
            <a:r>
              <a:rPr sz="1125" b="0">
                <a:solidFill>
                  <a:srgbClr val="5B6675"/>
                </a:solidFill>
              </a:rPr>
              <a:t>user, nhóm shipper, permission, đơn hàng, graph Quận 1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0b93034254875"/>
          <a:stretch xmlns:a="http://schemas.openxmlformats.org/drawingml/2006/main"/>
        </p:blipFill>
        <p:spPr>
          <a:xfrm xmlns:a="http://schemas.openxmlformats.org/drawingml/2006/main">
            <a:off x="9601200" y="4133850"/>
            <a:ext cx="552450" cy="5524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2d350775b422e"/>
          <a:stretch xmlns:a="http://schemas.openxmlformats.org/drawingml/2006/main"/>
        </p:blipFill>
        <p:spPr>
          <a:xfrm xmlns:a="http://schemas.openxmlformats.org/drawingml/2006/main">
            <a:off x="10287000" y="413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25E37-A74B-4BF8-8F24-E4193B1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C8121-FD25-4800-B0B2-E61A438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46061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8B0E8-37D5-438B-AFEB-97629B2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II. THUẬT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3694-616C-49B6-B4B6-5A8A8822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CD611-2B8A-48BB-8224-BB3E888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6 nhóm thuật toán áp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6FBAE-768A-4682-B324-EF685DFA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Mỗi nhóm giải một lát cắt khác nhau của bài toán giao hàng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0AA9E-BF11-4057-A690-B5559086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D97C2-6CA0-4CCA-B7D5-C6D52A4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7DB13-A067-4A26-B878-099183BB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51A90-185F-43B7-8706-3046455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Uninformed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0D8ED-1010-4FD0-A9CC-E2EE887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BFS / DFS / UCS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baseline tìm đường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E08CC-F8E6-49F7-998F-FDB5B0E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DB89A-E228-4443-8C0F-3057EC8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CBB09-A388-441F-838A-CE1EC480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Informed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47D46-1B55-424C-BF2E-82B6FB0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Greedy / A*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heuristic định hướng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7D3AB-08B5-4F88-9A6C-476E84F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5C5F7-38E8-4ECD-A077-1D15B36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0B31-74D4-488A-BB19-A420F35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D033D-0409-4809-9ABD-BB9F14C6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Hill / SA / Beam / GA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tối ưu nhiều đơn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11EC4-9AC0-4C6C-BC7A-DA58F32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EB5B-A8D9-4866-8827-AC4DB7EB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69101-4677-467F-936C-9A13E5B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Complex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04CD4-C4C3-4BE2-9E69-3EA69D3C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Belief / Replan / AND-OR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thiếu quan sát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2D92E-ECBE-4088-8799-D282251E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67AD5-C528-40CE-91CE-C091BB2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8C1B8-C421-4F7B-8EBD-2864846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62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7E03A-67EF-4719-AEC2-E1BDDCE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MRV / Forward Checking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ràng buộc hợp lệ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CA795-138B-47A4-9E52-F9321E0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3DCE9-2A95-4626-A609-0532CD5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5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B59D2-AADA-4EF4-B745-6770E0F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Adversarial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EA4E6-535F-4386-8A1E-E04E0261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Minimax / Alpha-Beta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worst-case disruption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E4C42-529F-4A3E-BC25-29BB825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4B8F"/>
                </a:solidFill>
              </a:defRPr>
            </a:pPr>
            <a:r>
              <a:rPr sz="1650" b="1">
                <a:solidFill>
                  <a:srgbClr val="074B8F"/>
                </a:solidFill>
              </a:rPr>
              <a:t>Trong slide chính chỉ cần nêu vai trò; chi tiết trace để phần demo chứng minh.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5DFED-E908-43CA-A1DF-FE79D43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70084-72F4-45B5-91A2-36990E87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830247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5BA8D-64DC-477A-8821-40875CFD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II. THUẬT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5FF7B-0CD1-4A1F-A4C9-478E56EB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483D5-F6C3-42CC-B52F-7BDFA55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Cách trình bày thuật toán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26494-F173-4F26-8C38-58F4A3B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Một khuôn nói chung để không bị rối khi vấn đáp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D6E9C-71E9-4819-8BEE-F7F1ABA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4C37F-FD24-4F4E-8DE0-7E43F5F9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F7474-1638-42DE-A5B2-BEB228C5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D87AC-76C8-4799-8998-1D46CB30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Trạng thái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8B9A2-BC81-426C-98C0-9738871E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48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shipper đang ở đâu, biết gì về môi trường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ADBE-6888-4417-A0FE-E9843E7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098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3B8DD-1C31-455D-A14F-F132293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23A6E-8476-4148-B70F-13A3C4D4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ACA59-6CDE-4656-A056-3A4C9C67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Mục tiêu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194C7-F22E-4FE3-BE25-3900954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đạt pickup/dropoff hoặc thỏa ràng buộc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8969A-678F-442D-91F4-BA3254B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98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12B56-7372-4E0F-B99A-90DABE03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A855F-4B0A-4DC2-A985-4A3A775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A6E43-0B05-4D08-A40F-114402A9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Luật chọn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F9A60-5E51-4966-AC16-D7A35181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48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frontier, heuristic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domain, alpha/beta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DD5F2-22A3-47F9-AC3D-0329D813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B7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F158E-8646-4F7B-AC06-A4E8C4A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1A061-443D-4A56-B5DA-6ED6535E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33220-9117-4FA7-B2E0-BC23F69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Kết quả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B6B61-FF67-41F6-9AFA-29CEAE1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path, cost, visited, trace, route mới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D84AE-2747-44C5-AD87-709DD77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530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4B8F"/>
                </a:solidFill>
              </a:defRPr>
            </a:pPr>
            <a:r>
              <a:rPr sz="2250" b="1">
                <a:solidFill>
                  <a:srgbClr val="074B8F"/>
                </a:solidFill>
              </a:rPr>
              <a:t>Ví dụ A*: chọn node có f(n) = g(n) + h(n)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F5AE7-D9D0-4950-A077-3EC029B0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D782B-739F-493E-9ACA-D8BA091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422648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11B694-9064-4537-B270-E29B492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III. 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3F1F6-BB92-4CBD-B2AF-625B70CB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700ED-C129-48B1-9E42-87DACE6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Thực nghiệm và kết quả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1FA13-82B1-4196-B9E5-01380952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So sánh bằng trace, cost, visited nodes và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188B-F851-49E3-8203-4910EF9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76300" y="2457450"/>
          <a:ext xmlns:a="http://schemas.openxmlformats.org/drawingml/2006/main" cx="50482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4c3915b4a849f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FC22F-396E-40C4-A4E6-FA30E21A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B283E-5F53-4182-AC81-2893EB8A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8B8FA-B6BD-4ADB-821C-1723087C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Điều nên nói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7A2CA-C98F-410A-B0B3-63E7D9F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3638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A* thường mở ít node hơn baseline khi heuristic phù hợp.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Local Search phù hợp tối ưu thứ tự nhiều đơn.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Complex/CSP/Adversarial trả lời các tình huống khó hơn shortest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DE838-D765-4188-8F55-DDC363B8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5"/>
                </a:solidFill>
              </a:defRPr>
            </a:pPr>
            <a:r>
              <a:rPr sz="1575" b="0">
                <a:solidFill>
                  <a:srgbClr val="5B6675"/>
                </a:solidFill>
              </a:rPr>
              <a:t>Biểu đồ dùng để minh họa cách đọc kết quả; khi demo app sẽ xem metric thật trên Defense Lab.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17480-C32B-4500-A32B-D0D7207C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C0509-9FE6-4541-B46A-8D82F45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71280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E926D-EADB-4B7F-BB74-85E8B15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III.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ED239-CCE9-4881-9ACA-1EE3C7B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C4E38-610E-4858-B47C-861106B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Kịch bản demo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DFCDF-04A4-4772-BF4E-8EAEEA61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Giữ demo trong 5-7 phút, tập trung vào điều giảng viên cần thấy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253A-0201-42AB-852E-F8A59882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6D337-0A6E-4D54-A8C2-52A5ED7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FCF2-C57B-4DF0-9CE4-CE6F85DC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10B6D-DDA0-4B42-A368-4B70651C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Defense 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6A765-4E6E-4B42-8FFC-16922A4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A* step-by-step: frontier, visited, g/h/f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2FA39-6F99-476A-A9C0-595067B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B407B-1391-4B31-9DB9-F028231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9DA03-66D9-4DC9-91E6-0B65BA31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 sánh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B98A9-EA91-4D32-8D35-DBAB421F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BFS/UCS hoặc Local Search để thấy khác biệt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DAAD0-A1F6-4C86-8DD8-DC32D553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A8B90-1376-4BAB-A478-9C10942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2B2C4-F66A-4DC8-8480-9D6964B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Complex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C5DD3-6840-4974-84E1-944B78BF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Online Replanning hoặc AND-OR conditional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9C320-D194-43DA-8099-85DE2A16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994DC-8CA4-4892-BB4E-D78C695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3A4C4-BDB3-432C-844D-1FFB27C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56866-194B-459E-AE64-006F233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bật/tắt quyền thuật toán theo nhóm shipper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563D0-6F22-4FB3-A185-052F77A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D2D09-A126-4B03-A540-294F8AB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04F44-75A4-46FA-BEB7-1119E7C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Shipper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901FF-3284-43F5-81B4-6F63762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nhận đơn, lập tuyến, xem playback trên bản đồ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b8a17f06042d4"/>
          <a:stretch xmlns:a="http://schemas.openxmlformats.org/drawingml/2006/main"/>
        </p:blipFill>
        <p:spPr>
          <a:xfrm xmlns:a="http://schemas.openxmlformats.org/drawingml/2006/main">
            <a:off x="9963150" y="2209800"/>
            <a:ext cx="857250" cy="85725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113aed16e48f7"/>
          <a:stretch xmlns:a="http://schemas.openxmlformats.org/drawingml/2006/main"/>
        </p:blipFill>
        <p:spPr>
          <a:xfrm xmlns:a="http://schemas.openxmlformats.org/drawingml/2006/main">
            <a:off x="9763125" y="3333750"/>
            <a:ext cx="552450" cy="5524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bae9216f64a0b"/>
          <a:stretch xmlns:a="http://schemas.openxmlformats.org/drawingml/2006/main"/>
        </p:blipFill>
        <p:spPr>
          <a:xfrm xmlns:a="http://schemas.openxmlformats.org/drawingml/2006/main">
            <a:off x="10429875" y="33337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A188B-132D-460C-9BB9-44826DB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73F851-80C2-4BBC-9C7C-35F71434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291677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B0B6D-5C1E-4C06-A010-EBD6340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IV. 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F3609-6529-4B01-A018-FF2435B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89758-51B9-4D17-97D8-479C3B66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Đánh giá và thảo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537ED-85A0-4CE1-AA8A-854CE57A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Điểm đạt được, hạn chế và hướng phát triển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C7F04-6C20-4EAC-90FB-E9A0280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1F19-3D47-4E21-B5BF-4DD9117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A8002-56E8-4C3A-96DB-69FD2989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C2892-512C-47AA-9BB1-9C2FBDA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Đạt được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5D594-8248-4758-9003-4A3C53B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686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UI demo, API, SQLite, phân quyền thuật toán, trace step-by-step, 6 nhóm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B5BAA-0ABA-49C7-B1BE-90CEEF6E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9A063-9EE9-493A-BE73-9870A92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24A79-B907-490B-AE15-6D455EE0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Hạn chế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F7A3F-32FC-4BA2-A181-E2B1293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686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Graph cache còn nhỏ; traffic và observation được đơn giản hóa cho mục tiêu học thuật.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32F4D-EDAF-4919-A220-7F36956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B5C34-A2BC-4FAF-A849-1AD52DF5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9D386-0A3F-4DD6-95C0-35AE53D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Phát triển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B1AC8-EE7D-44A3-BA07-B3B4F9B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86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Custom node/edge trong DB, route history, bản đồ lớn hơn, traffic realtime, multi-driver routing.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CC3ED-EBA4-42B5-91BD-F4A3D57F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4B8F"/>
                </a:solidFill>
              </a:defRPr>
            </a:pPr>
            <a:r>
              <a:rPr sz="1800" b="1">
                <a:solidFill>
                  <a:srgbClr val="074B8F"/>
                </a:solidFill>
              </a:rPr>
              <a:t>Thông điệp chính: hệ thống ưu tiên khả năng giải thích thuật toán, không chỉ giao diện chạy được.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FFB0C-ECA0-415A-B21E-6483B1E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9D082-9BB6-4656-9E8A-9BCCE3E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9410481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58852-6512-4FFF-A020-C302603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4DE"/>
                </a:solidFill>
              </a:defRPr>
            </a:pPr>
            <a:r>
              <a:rPr sz="1050" b="1">
                <a:solidFill>
                  <a:srgbClr val="0B74DE"/>
                </a:solidFill>
              </a:rPr>
              <a:t>V. 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B9D5-697A-43A8-857D-4466080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9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</a:defRPr>
            </a:pPr>
            <a:r>
              <a:rPr sz="1050" b="1">
                <a:solidFill>
                  <a:srgbClr val="5B667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40538-E599-41C8-A371-E0A8BFD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Kết luận &amp; chuẩn bị vấn đáp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698B5-D46F-4BF0-A122-B59535E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</a:defRPr>
            </a:pPr>
            <a:r>
              <a:rPr sz="1350" b="0">
                <a:solidFill>
                  <a:srgbClr val="5B6675"/>
                </a:solidFill>
              </a:rPr>
              <a:t>Chốt bài bằng 3 ý, sau đó để cô hỏi vào thuật toán/demo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98795-1980-4BB6-93F2-EE949977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18281-CEBF-4B5B-842C-5B0BDEB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3 ý chốt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ECC11-C54B-409C-A3EE-8BF0CE1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4B8F"/>
                </a:solidFill>
              </a:defRPr>
            </a:pPr>
            <a:r>
              <a:rPr sz="1800" b="1">
                <a:solidFill>
                  <a:srgbClr val="074B8F"/>
                </a:solidFill>
              </a:rPr>
              <a:t>1. Bài toán giao hàng được mô hình hóa thành graph có ràng buộc.</a:t>
            </a:r>
          </a:p>
          <a:p xmlns:a="http://schemas.openxmlformats.org/drawingml/2006/main">
            <a:pPr algn="l">
              <a:defRPr sz="1800" b="1">
                <a:solidFill>
                  <a:srgbClr val="074B8F"/>
                </a:solidFill>
              </a:defRPr>
            </a:pPr>
            <a:r>
              <a:rPr sz="1800" b="1">
                <a:solidFill>
                  <a:srgbClr val="074B8F"/>
                </a:solidFill>
              </a:rPr>
              <a:t>2. 6 nhóm thuật toán giải các tình huống khác nhau.</a:t>
            </a:r>
          </a:p>
          <a:p xmlns:a="http://schemas.openxmlformats.org/drawingml/2006/main">
            <a:pPr algn="l">
              <a:defRPr sz="1800" b="1">
                <a:solidFill>
                  <a:srgbClr val="074B8F"/>
                </a:solidFill>
              </a:defRPr>
            </a:pPr>
            <a:r>
              <a:rPr sz="1800" b="1">
                <a:solidFill>
                  <a:srgbClr val="074B8F"/>
                </a:solidFill>
              </a:rPr>
              <a:t>3. App cho phép xem trace, metric và phân quyền thuật toán.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5586E-2562-43D3-A3DC-A3F2145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D05DA-4C39-4493-AEB9-797C249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0F422-04E8-4559-8729-B8A81355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Câu hỏi dễ gặp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0F687-68B2-423E-BB96-DE34EF9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27813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State/goal/cost là gì?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Vì sao dùng A*?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AND-OR khác Online Replanning thế nào?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Tại sao không gọi Google Directions/OSRM?</a:t>
            </a:r>
          </a:p>
          <a:p xmlns:a="http://schemas.openxmlformats.org/drawingml/2006/main">
            <a:pPr algn="l">
              <a:defRPr sz="1200" b="0">
                <a:solidFill>
                  <a:srgbClr val="5B6675"/>
                </a:solidFill>
              </a:defRPr>
            </a:pPr>
            <a:r>
              <a:rPr sz="1200" b="0">
                <a:solidFill>
                  <a:srgbClr val="5B6675"/>
                </a:solidFill>
              </a:rPr>
              <a:t>Hạn chế và hướng phát triển?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943F6-2455-49D5-AD3F-831A347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Câu kết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9CAD8-8DDF-4567-89B1-1F267689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9D72"/>
                </a:solidFill>
              </a:defRPr>
            </a:pPr>
            <a:r>
              <a:rPr sz="1950" b="1">
                <a:solidFill>
                  <a:srgbClr val="1F9D72"/>
                </a:solidFill>
              </a:rPr>
              <a:t>Find Your Path không chỉ tìm đường, mà giúp nhìn thấy cách thuật toán ra quyết định.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9E121-A336-4523-82A6-439F706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Smart Urban Delivery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8239B-D155-474F-82EE-7851E65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4"/>
                </a:solidFill>
              </a:defRPr>
            </a:pPr>
            <a:r>
              <a:rPr sz="900" b="0">
                <a:solidFill>
                  <a:srgbClr val="7A8794"/>
                </a:solidFill>
              </a:rPr>
              <a:t>FYP - AI final defense</a:t>
            </a:r>
          </a:p>
        </p:txBody>
      </p:sp>
    </p:spTree>
    <p:extLst>
      <p:ext uri="{BB962C8B-B14F-4D97-AF65-F5344CB8AC3E}">
        <p14:creationId xmlns:p14="http://schemas.microsoft.com/office/powerpoint/2010/main" val="1172096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2026-06-28T21:40:45.6410000Z</dcterms:created>
  <dcterms:modified xsi:type="dcterms:W3CDTF">2026-06-28T21:40:45.6420000Z</dcterms:modified>
</coreProperties>
</file>