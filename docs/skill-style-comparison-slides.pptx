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7d704ad9734b91" /><Relationship Type="http://schemas.openxmlformats.org/officeDocument/2006/relationships/extended-properties" Target="/docProps/app.xml" Id="R3484a2494e5a4a5e" /><Relationship Type="http://schemas.openxmlformats.org/officeDocument/2006/relationships/officeDocument" Target="/ppt/presentation.xml" Id="R083d388202704c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3316f6baeb4cfb"/>
  </p:sldMasterIdLst>
  <p:notesMasterIdLst>
    <p:notesMasterId xmlns:r="http://schemas.openxmlformats.org/officeDocument/2006/relationships" r:id="R48d15b55b4ab45a3"/>
  </p:notesMasterIdLst>
  <p:sldIdLst>
    <p:sldId xmlns:r="http://schemas.openxmlformats.org/officeDocument/2006/relationships" id="256" r:id="R8962e19bb3f44831"/>
    <p:sldId xmlns:r="http://schemas.openxmlformats.org/officeDocument/2006/relationships" id="257" r:id="R2411b63d8d924249"/>
    <p:sldId xmlns:r="http://schemas.openxmlformats.org/officeDocument/2006/relationships" id="258" r:id="Ra36a0e7228b94c4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fd0d6fc775482c" /><Relationship Type="http://schemas.openxmlformats.org/officeDocument/2006/relationships/slideMaster" Target="/ppt/slideMasters/slideMaster1.xml" Id="R353316f6baeb4cfb" /><Relationship Type="http://schemas.openxmlformats.org/officeDocument/2006/relationships/notesMaster" Target="/ppt/notesMasters/notesMaster1.xml" Id="R48d15b55b4ab45a3" /><Relationship Type="http://schemas.openxmlformats.org/officeDocument/2006/relationships/presProps" Target="/ppt/presProps.xml" Id="Rdbaac072f2134b6d" /><Relationship Type="http://schemas.openxmlformats.org/officeDocument/2006/relationships/tableStyles" Target="/ppt/tableStyles.xml" Id="R6bc8c070edb14ebe" /><Relationship Type="http://schemas.openxmlformats.org/officeDocument/2006/relationships/slide" Target="/ppt/slides/slide1.xml" Id="R8962e19bb3f44831" /><Relationship Type="http://schemas.openxmlformats.org/officeDocument/2006/relationships/slide" Target="/ppt/slides/slide2.xml" Id="R2411b63d8d924249" /><Relationship Type="http://schemas.openxmlformats.org/officeDocument/2006/relationships/slide" Target="/ppt/slides/slide3.xml" Id="Ra36a0e7228b94c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42a7bb25134d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5f2f1447e24160" /><Relationship Type="http://schemas.openxmlformats.org/officeDocument/2006/relationships/notesMaster" Target="/ppt/notesMasters/notesMaster1.xml" Id="R0c94d4817f0144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60fce6124b4a8d" /><Relationship Type="http://schemas.openxmlformats.org/officeDocument/2006/relationships/notesMaster" Target="/ppt/notesMasters/notesMaster1.xml" Id="R0b356eaebda846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e88a2e29b54576" /><Relationship Type="http://schemas.openxmlformats.org/officeDocument/2006/relationships/notesMaster" Target="/ppt/notesMasters/notesMaster1.xml" Id="Rab09fe2de43042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db0b3e15a34b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a57fd40d0149d3" /><Relationship Type="http://schemas.openxmlformats.org/officeDocument/2006/relationships/slideLayout" Target="/ppt/slideLayouts/slideLayout1.xml" Id="R2e7a5aa3cdc14f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7a5aa3cdc14f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a13234fed41e3" /><Relationship Type="http://schemas.openxmlformats.org/officeDocument/2006/relationships/chart" Target="/ppt/slides/charts/chart1.xml" Id="R0a63aa61b53c4d89" /><Relationship Type="http://schemas.openxmlformats.org/officeDocument/2006/relationships/notesSlide" Target="/ppt/notesSlides/notesSlide1.xml" Id="Rfedfc638cb264b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6f97c2c6a4de5" /><Relationship Type="http://schemas.openxmlformats.org/officeDocument/2006/relationships/notesSlide" Target="/ppt/notesSlides/notesSlide2.xml" Id="Rc2e976ec55324d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9471a5d8e4d00" /><Relationship Type="http://schemas.openxmlformats.org/officeDocument/2006/relationships/chart" Target="/ppt/slides/charts/chart2.xml" Id="R0810ffbb59584d75" /><Relationship Type="http://schemas.openxmlformats.org/officeDocument/2006/relationships/notesSlide" Target="/ppt/notesSlides/notesSlide3.xml" Id="Re83a716ebe7041b5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Lower route minutes is better</c:v>
          </c:tx>
          <c:spPr>
            <a:solidFill xmlns:a="http://schemas.openxmlformats.org/drawingml/2006/main">
              <a:srgbClr val="14B8A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BFS</c:v>
              </c:pt>
              <c:pt idx="1">
                <c:v>UCS</c:v>
              </c:pt>
              <c:pt idx="2">
                <c:v>A*</c:v>
              </c:pt>
            </c:strLit>
          </c:cat>
          <c:val>
            <c:numLit>
              <c:formatCode>General</c:formatCode>
              <c:ptCount val="3"/>
              <c:pt idx="0">
                <c:v>18.4</c:v>
              </c:pt>
              <c:pt idx="1">
                <c:v>16.6</c:v>
              </c:pt>
              <c:pt idx="2">
                <c:v>15.8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4E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Explainability score</c:v>
          </c:tx>
          <c:spPr>
            <a:solidFill xmlns:a="http://schemas.openxmlformats.org/drawingml/2006/main">
              <a:srgbClr val="F46F91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BFS</c:v>
              </c:pt>
              <c:pt idx="1">
                <c:v>A*</c:v>
              </c:pt>
              <c:pt idx="2">
                <c:v>Replan</c:v>
              </c:pt>
            </c:strLit>
          </c:cat>
          <c:val>
            <c:numLit>
              <c:formatCode>General</c:formatCode>
              <c:ptCount val="3"/>
              <c:pt idx="0">
                <c:v>3</c:v>
              </c:pt>
              <c:pt idx="1">
                <c:v>5</c:v>
              </c:pt>
              <c:pt idx="2">
                <c:v>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4E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274312E5-9C94-417D-931B-5FFE3F9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9488"/>
                </a:solidFill>
                <a:latin typeface="Aptos"/>
                <a:ea typeface="Aptos"/>
                <a:cs typeface="Aptos"/>
              </a:rPr>
              <a:t>TECH-ENGINEERING PRESENTATION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067BDED-659A-43CC-8CC0-A2978C4B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181B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8181B"/>
                </a:solidFill>
                <a:latin typeface="Aptos Display"/>
                <a:ea typeface="Aptos Display"/>
                <a:cs typeface="Aptos Display"/>
              </a:rPr>
              <a:t>A* is the routing core; constraints decide whether the route is usable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6942188-ADFB-4D85-9260-8943ED94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Engineering question: how does Find Your Path turn graph + orders into an explainable delivery route?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18CEE779-956E-46E9-B3EA-827D7E10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14625"/>
            <a:ext cx="17907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4BB23FB-3E3A-4727-A9F3-B08FB931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0512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181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181B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7D7E016-391E-4C2C-ADFF-A9AAA6F4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24225"/>
            <a:ext cx="1447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OSM graph</a:t>
            </a:r>
          </a:p>
          <a:p xmlns:a="http://schemas.openxmlformats.org/drawingml/2006/main">
            <a:pPr algn="l">
              <a:defRPr sz="135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Orders</a:t>
            </a:r>
          </a:p>
          <a:p xmlns:a="http://schemas.openxmlformats.org/drawingml/2006/main">
            <a:pPr algn="l">
              <a:defRPr sz="135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Blocked roads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CBB504E5-B22E-4066-A7C0-1509A80E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194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A3CF7D45-1365-4399-A2A5-8623BE6D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14625"/>
            <a:ext cx="17907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FF85963-850B-444F-8192-667871C9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0512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181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181B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485169B-510A-498F-97D0-AC139C02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24225"/>
            <a:ext cx="1447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A* frontier</a:t>
            </a:r>
          </a:p>
          <a:p xmlns:a="http://schemas.openxmlformats.org/drawingml/2006/main">
            <a:pPr algn="l">
              <a:defRPr sz="135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f(n)=g+h</a:t>
            </a:r>
          </a:p>
          <a:p xmlns:a="http://schemas.openxmlformats.org/drawingml/2006/main">
            <a:pPr algn="l">
              <a:defRPr sz="135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parentMap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6D60B4FD-B6F0-4BC2-8B53-BDDCE9E1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194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52B097BD-CAB4-441B-958C-175AF387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14625"/>
            <a:ext cx="17907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5F49EB2-0BE2-4E91-B2A3-76A48C2F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0512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181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181B"/>
                </a:solidFill>
                <a:latin typeface="Aptos"/>
                <a:ea typeface="Aptos"/>
                <a:cs typeface="Aptos"/>
              </a:rPr>
              <a:t>Constraints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0998001-EE5F-45CD-B853-453A40A7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24225"/>
            <a:ext cx="1447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Deadline</a:t>
            </a:r>
          </a:p>
          <a:p xmlns:a="http://schemas.openxmlformats.org/drawingml/2006/main">
            <a:pPr algn="l">
              <a:defRPr sz="135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Capacity</a:t>
            </a:r>
          </a:p>
          <a:p xmlns:a="http://schemas.openxmlformats.org/drawingml/2006/main">
            <a:pPr algn="l">
              <a:defRPr sz="135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Feasibility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B84EB37D-E33B-48F1-A8E5-DFA6297C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194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FCF7F3B7-E8D0-4F80-A1CA-8E080F2A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14625"/>
            <a:ext cx="17907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90BB8C0-B644-45D9-81A3-2988F7C2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0512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181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181B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5D80DD2-425B-45A2-85FB-E17F6C89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24225"/>
            <a:ext cx="1447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Path</a:t>
            </a:r>
          </a:p>
          <a:p xmlns:a="http://schemas.openxmlformats.org/drawingml/2006/main">
            <a:pPr algn="l">
              <a:defRPr sz="135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Metrics</a:t>
            </a:r>
          </a:p>
          <a:p xmlns:a="http://schemas.openxmlformats.org/drawingml/2006/main">
            <a:pPr algn="l">
              <a:defRPr sz="135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Trace steps</a:t>
            </a:r>
          </a:p>
        </p:txBody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BA383D7A-EA13-40D2-A9EE-96DA9CBE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22860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AD81AC6-2765-40B5-8D21-F96227CD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86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D9488"/>
                </a:solidFill>
                <a:latin typeface="Aptos"/>
                <a:ea typeface="Aptos"/>
                <a:cs typeface="Aptos"/>
              </a:rPr>
              <a:t>Evidence to show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EB5AD78-D027-48C9-9A4E-9704C7A2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0515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18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181B"/>
                </a:solidFill>
                <a:latin typeface="Aptos"/>
                <a:ea typeface="Aptos"/>
                <a:cs typeface="Aptos"/>
              </a:rPr>
              <a:t>• path + visited nodes</a:t>
            </a:r>
          </a:p>
          <a:p xmlns:a="http://schemas.openxmlformats.org/drawingml/2006/main">
            <a:pPr algn="l">
              <a:defRPr sz="1350" b="0">
                <a:solidFill>
                  <a:srgbClr val="1818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181B"/>
                </a:solidFill>
                <a:latin typeface="Aptos"/>
                <a:ea typeface="Aptos"/>
                <a:cs typeface="Aptos"/>
              </a:rPr>
              <a:t>• runtimeMs</a:t>
            </a:r>
          </a:p>
          <a:p xmlns:a="http://schemas.openxmlformats.org/drawingml/2006/main">
            <a:pPr algn="l">
              <a:defRPr sz="1350" b="0">
                <a:solidFill>
                  <a:srgbClr val="1818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181B"/>
                </a:solidFill>
                <a:latin typeface="Aptos"/>
                <a:ea typeface="Aptos"/>
                <a:cs typeface="Aptos"/>
              </a:rPr>
              <a:t>• route metrics</a:t>
            </a:r>
          </a:p>
          <a:p xmlns:a="http://schemas.openxmlformats.org/drawingml/2006/main">
            <a:pPr algn="l">
              <a:defRPr sz="1350" b="0">
                <a:solidFill>
                  <a:srgbClr val="1818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181B"/>
                </a:solidFill>
                <a:latin typeface="Aptos"/>
                <a:ea typeface="Aptos"/>
                <a:cs typeface="Aptos"/>
              </a:rPr>
              <a:t>• traceSteps previewPath</a:t>
            </a:r>
          </a:p>
        </p:txBody>
      </p:sp>
      <p:graphicFrame>
        <p:nvGraphicFramePr>
          <p:cNvPr id="47" name="Chart"/>
          <p:cNvGraphicFramePr/>
          <p:nvPr/>
        </p:nvGraphicFramePr>
        <p:xfrm>
          <a:off xmlns:a="http://schemas.openxmlformats.org/drawingml/2006/main" x="1066800" y="4781550"/>
          <a:ext xmlns:a="http://schemas.openxmlformats.org/drawingml/2006/main" cx="4476750" cy="1104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63aa61b53c4d89"/>
          </a:graphicData>
        </a:graphic>
      </p:graphicFrame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E8AD080-98E5-4EC9-902F-34CD2AD4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101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181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181B"/>
                </a:solidFill>
                <a:latin typeface="Aptos"/>
                <a:ea typeface="Aptos"/>
                <a:cs typeface="Aptos"/>
              </a:rPr>
              <a:t>Evidence style: one claim, one system view, one measured comparison.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1AABCAD-D81E-4F41-A11E-FC9577E1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Skill demo 01/03 - tech-engineering-presentation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7CD958E-CFE7-4D0F-92A8-46DBA8E8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055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Find Your Path</a:t>
            </a:r>
          </a:p>
        </p:txBody>
      </p:sp>
    </p:spTree>
    <p:extLst>
      <p:ext uri="{BB962C8B-B14F-4D97-AF65-F5344CB8AC3E}">
        <p14:creationId xmlns:p14="http://schemas.microsoft.com/office/powerpoint/2010/main" val="1034163809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22331"/>
            </a:gs>
            <a:gs pos="48000">
              <a:srgbClr val="1A2D3B"/>
            </a:gs>
            <a:gs pos="100000">
              <a:srgbClr val="21354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CED4556B-D9F5-4B3D-A183-C297DD61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-666750"/>
            <a:ext cx="5334000" cy="5334000"/>
          </a:xfrm>
          <a:prstGeom xmlns:a="http://schemas.openxmlformats.org/drawingml/2006/main" prst="roundRect">
            <a:avLst>
              <a:gd name="adj" fmla="val 2857"/>
            </a:avLst>
          </a:prstGeom>
          <a:gradFill xmlns:a="http://schemas.openxmlformats.org/drawingml/2006/main">
            <a:gsLst>
              <a:gs pos="0">
                <a:srgbClr val="F46F91">
                  <a:alpha val="75000"/>
                </a:srgbClr>
              </a:gs>
              <a:gs pos="42000">
                <a:srgbClr val="5B3474">
                  <a:alpha val="46000"/>
                </a:srgbClr>
              </a:gs>
              <a:gs pos="76000">
                <a:srgbClr val="1A2D3B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C16C5A85-A986-44D5-A90D-4E9A2FC3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71650"/>
            <a:ext cx="4000500" cy="3048000"/>
          </a:xfrm>
          <a:prstGeom xmlns:a="http://schemas.openxmlformats.org/drawingml/2006/main" prst="roundRect">
            <a:avLst>
              <a:gd name="adj" fmla="val 5000"/>
            </a:avLst>
          </a:prstGeom>
          <a:gradFill xmlns:a="http://schemas.openxmlformats.org/drawingml/2006/main">
            <a:gsLst>
              <a:gs pos="0">
                <a:srgbClr val="1596C8">
                  <a:alpha val="72000"/>
                </a:srgbClr>
              </a:gs>
              <a:gs pos="44000">
                <a:srgbClr val="2F1F4E">
                  <a:alpha val="48000"/>
                </a:srgbClr>
              </a:gs>
              <a:gs pos="80000">
                <a:srgbClr val="1A2D3B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EC4FA73B-4BE9-4391-8515-F2207EC5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67200"/>
            <a:ext cx="2476500" cy="1524000"/>
          </a:xfrm>
          <a:prstGeom xmlns:a="http://schemas.openxmlformats.org/drawingml/2006/main" prst="roundRect">
            <a:avLst>
              <a:gd name="adj" fmla="val 7500"/>
            </a:avLst>
          </a:prstGeom>
          <a:gradFill xmlns:a="http://schemas.openxmlformats.org/drawingml/2006/main">
            <a:gsLst>
              <a:gs pos="0">
                <a:srgbClr val="FFFFFF">
                  <a:alpha val="22000"/>
                </a:srgbClr>
              </a:gs>
              <a:gs pos="45000">
                <a:srgbClr val="F46F91">
                  <a:alpha val="18000"/>
                </a:srgbClr>
              </a:gs>
              <a:gs pos="100000">
                <a:srgbClr val="1596C8">
                  <a:alpha val="0"/>
                </a:srgbClr>
              </a:gs>
            </a:gsLst>
            <a:lin ang="810000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0B47E7E6-E906-4492-BBEC-6CE80C80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905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5F850E1-EECD-4530-9C74-88FFF87D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91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6F91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46F91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2CDF7AB-A37D-4773-A1F1-3ADEFD01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>
                    <a:alpha val="7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>
                    <a:alpha val="70000"/>
                  </a:srgbClr>
                </a:solidFill>
                <a:latin typeface="Aptos"/>
                <a:ea typeface="Aptos"/>
                <a:cs typeface="Aptos"/>
              </a:rPr>
              <a:t>ABSTRACT ART SLIDE STYLE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0CE025D-DABE-44C2-8E20-EB5BA029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609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Routes become visible when the algorithm leaves a trace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B4FB693-F975-4F97-9ABF-94AAD6EE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DE7EE"/>
                </a:solidFill>
                <a:latin typeface="Aptos"/>
                <a:ea typeface="Aptos"/>
                <a:cs typeface="Aptos"/>
              </a:rPr>
              <a:t>Dark navy canvas, thin white hairline, pink hierarchy, and a single expressive abstract field. The copy stays compact so negative space does useful work.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26A9C56F-7EA5-4053-9239-785C7AB2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78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236257B-250D-417C-96F9-76F88DF9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  Path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8031715-0522-45FF-88EB-2F2A29C7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8293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  Metrics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BC59DC7-26C3-41AF-9168-AB8373A7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829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  Trace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C543780-CD10-427A-921F-1EFB00F3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56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>
                    <a:alpha val="56000"/>
                  </a:srgbClr>
                </a:solidFill>
                <a:latin typeface="Aptos"/>
                <a:ea typeface="Aptos"/>
                <a:cs typeface="Aptos"/>
              </a:rPr>
              <a:t>Skill demo 02/03 - abstract-art-slide-style</a:t>
            </a:r>
          </a:p>
        </p:txBody>
      </p:sp>
    </p:spTree>
    <p:extLst>
      <p:ext uri="{BB962C8B-B14F-4D97-AF65-F5344CB8AC3E}">
        <p14:creationId xmlns:p14="http://schemas.microsoft.com/office/powerpoint/2010/main" val="1975734755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22331"/>
            </a:gs>
            <a:gs pos="48000">
              <a:srgbClr val="1A2D3B"/>
            </a:gs>
            <a:gs pos="100000">
              <a:srgbClr val="0D9488"/>
            </a:gs>
          </a:gsLst>
          <a:lin ang="7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04D5FB7A-3CCA-4035-929B-D7D2AB98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-666750"/>
            <a:ext cx="5334000" cy="5334000"/>
          </a:xfrm>
          <a:prstGeom xmlns:a="http://schemas.openxmlformats.org/drawingml/2006/main" prst="roundRect">
            <a:avLst>
              <a:gd name="adj" fmla="val 2857"/>
            </a:avLst>
          </a:prstGeom>
          <a:gradFill xmlns:a="http://schemas.openxmlformats.org/drawingml/2006/main">
            <a:gsLst>
              <a:gs pos="0">
                <a:srgbClr val="F46F91">
                  <a:alpha val="75000"/>
                </a:srgbClr>
              </a:gs>
              <a:gs pos="42000">
                <a:srgbClr val="5B3474">
                  <a:alpha val="46000"/>
                </a:srgbClr>
              </a:gs>
              <a:gs pos="76000">
                <a:srgbClr val="1A2D3B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4A19FAB7-DDF3-46A3-9E01-F2456932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71650"/>
            <a:ext cx="4000500" cy="3048000"/>
          </a:xfrm>
          <a:prstGeom xmlns:a="http://schemas.openxmlformats.org/drawingml/2006/main" prst="roundRect">
            <a:avLst>
              <a:gd name="adj" fmla="val 5000"/>
            </a:avLst>
          </a:prstGeom>
          <a:gradFill xmlns:a="http://schemas.openxmlformats.org/drawingml/2006/main">
            <a:gsLst>
              <a:gs pos="0">
                <a:srgbClr val="1596C8">
                  <a:alpha val="72000"/>
                </a:srgbClr>
              </a:gs>
              <a:gs pos="44000">
                <a:srgbClr val="2F1F4E">
                  <a:alpha val="48000"/>
                </a:srgbClr>
              </a:gs>
              <a:gs pos="80000">
                <a:srgbClr val="1A2D3B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C85EA74E-1BCC-4059-918F-14E0CC95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67200"/>
            <a:ext cx="2476500" cy="1524000"/>
          </a:xfrm>
          <a:prstGeom xmlns:a="http://schemas.openxmlformats.org/drawingml/2006/main" prst="roundRect">
            <a:avLst>
              <a:gd name="adj" fmla="val 7500"/>
            </a:avLst>
          </a:prstGeom>
          <a:gradFill xmlns:a="http://schemas.openxmlformats.org/drawingml/2006/main">
            <a:gsLst>
              <a:gs pos="0">
                <a:srgbClr val="FFFFFF">
                  <a:alpha val="22000"/>
                </a:srgbClr>
              </a:gs>
              <a:gs pos="45000">
                <a:srgbClr val="F46F91">
                  <a:alpha val="18000"/>
                </a:srgbClr>
              </a:gs>
              <a:gs pos="100000">
                <a:srgbClr val="1596C8">
                  <a:alpha val="0"/>
                </a:srgbClr>
              </a:gs>
            </a:gsLst>
            <a:lin ang="810000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F84480DE-DFDF-4544-BA21-31A101ED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11391900" cy="5772150"/>
          </a:xfrm>
          <a:prstGeom xmlns:a="http://schemas.openxmlformats.org/drawingml/2006/main" prst="roundRect">
            <a:avLst>
              <a:gd name="adj" fmla="val 264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7B48CA58-BFD5-41B1-9E9D-7A7F860F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AFD1391-5734-4ECB-9DC4-F9B8CC8E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105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6F91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46F91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14E63B5-B78D-4877-83F0-89BF7760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097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>
                    <a:alpha val="72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>
                    <a:alpha val="72000"/>
                  </a:srgbClr>
                </a:solidFill>
                <a:latin typeface="Aptos"/>
                <a:ea typeface="Aptos"/>
                <a:cs typeface="Aptos"/>
              </a:rPr>
              <a:t>COMBINED SKILLS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F68CC9E-439C-434D-8809-07A0DCF1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5143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dark expressive shell can still carry engineering evidence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60198D7-C089-4B2D-9C72-D1EAF296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419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DE7E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DE7EE"/>
                </a:solidFill>
                <a:latin typeface="Aptos"/>
                <a:ea typeface="Aptos"/>
                <a:cs typeface="Aptos"/>
              </a:rPr>
              <a:t>Use abstract art for attention, but keep the technical proof legible: claim, route pipeline, result, and limitation.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AE856949-32F6-4A41-AF5D-84F83682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4762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AFAF9">
              <a:alpha val="90000"/>
            </a:srgbClr>
          </a:solidFill>
          <a:ln xmlns:a="http://schemas.openxmlformats.org/drawingml/2006/main" w="9525">
            <a:solidFill>
              <a:srgbClr val="FFFFFF">
                <a:alpha val="6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DA3CFCF-B529-4D39-B84C-C1005BD2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181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181B"/>
                </a:solidFill>
                <a:latin typeface="Aptos"/>
                <a:ea typeface="Aptos"/>
                <a:cs typeface="Aptos"/>
              </a:rPr>
              <a:t>Engineering proof inside the art system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35A01D63-39AE-484F-85FD-46F32A6C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819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8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9C13683-367D-4897-B7BB-51C07D7E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431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18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181B"/>
                </a:solidFill>
                <a:latin typeface="Aptos"/>
                <a:ea typeface="Aptos"/>
                <a:cs typeface="Aptos"/>
              </a:rPr>
              <a:t>Graph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E1898BD-EBA9-402C-B55C-E71F20CB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OSM cache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A1E27C7A-5241-4415-B7E1-0A46B1CE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098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6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08790528-4F1E-4CC5-809A-62BE5DB2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09800"/>
            <a:ext cx="819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D4D4D8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FB1F8FE-B48D-4C50-8124-EDBE67CE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431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E1AF178-9AE6-458B-9A75-DE3B6AA4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0985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A* / UCS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4EF06C18-B6F6-4A47-A71D-0EF877B8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098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6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1D0D47F8-80E4-451F-A29D-92D01963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09800"/>
            <a:ext cx="819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8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7CC6481-ECF9-4B3B-9864-380B3101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431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18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181B"/>
                </a:solidFill>
                <a:latin typeface="Aptos"/>
                <a:ea typeface="Aptos"/>
                <a:cs typeface="Aptos"/>
              </a:rPr>
              <a:t>Guard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9EA9642-FA40-48B8-8784-F9AF358B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0985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CSP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0961540B-10BA-4044-9379-F8B4144C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98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6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D29DC95C-25E3-47E3-A35B-CDB69E8B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09800"/>
            <a:ext cx="819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8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57087F3-50A8-459A-8E19-4522588E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431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18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181B"/>
                </a:solidFill>
                <a:latin typeface="Aptos"/>
                <a:ea typeface="Aptos"/>
                <a:cs typeface="Aptos"/>
              </a:rPr>
              <a:t>Adapt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82884874-0CA7-450C-9B58-442064C5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0985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Replan</a:t>
            </a:r>
          </a:p>
        </p:txBody>
      </p:sp>
      <p:graphicFrame>
        <p:nvGraphicFramePr>
          <p:cNvPr id="56" name="Chart"/>
          <p:cNvGraphicFramePr/>
          <p:nvPr/>
        </p:nvGraphicFramePr>
        <p:xfrm>
          <a:off xmlns:a="http://schemas.openxmlformats.org/drawingml/2006/main" x="6553200" y="3390900"/>
          <a:ext xmlns:a="http://schemas.openxmlformats.org/drawingml/2006/main" cx="3905250" cy="1066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10ffbb59584d75"/>
          </a:graphicData>
        </a:graphic>
      </p:graphicFrame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929EFD8-4F5C-45A2-ADC0-D57839F4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Hybrid rule: mood amplifies the story; evidence still owns the slide.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51BCD29-3A6A-480B-A939-6A915E72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56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FFFFF">
                    <a:alpha val="56000"/>
                  </a:srgbClr>
                </a:solidFill>
                <a:latin typeface="Aptos"/>
                <a:ea typeface="Aptos"/>
                <a:cs typeface="Aptos"/>
              </a:rPr>
              <a:t>Skill demo 03/03 - tech-engineering + abstract-art</a:t>
            </a:r>
          </a:p>
        </p:txBody>
      </p:sp>
    </p:spTree>
    <p:extLst>
      <p:ext uri="{BB962C8B-B14F-4D97-AF65-F5344CB8AC3E}">
        <p14:creationId xmlns:p14="http://schemas.microsoft.com/office/powerpoint/2010/main" val="1564125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2026-06-24T21:03:25.3880000Z</dcterms:created>
  <dcterms:modified xsi:type="dcterms:W3CDTF">2026-06-24T21:03:25.3880000Z</dcterms:modified>
</coreProperties>
</file>