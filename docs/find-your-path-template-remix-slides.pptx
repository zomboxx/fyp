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4a7db4a26b4f6f" /><Relationship Type="http://schemas.openxmlformats.org/officeDocument/2006/relationships/extended-properties" Target="/docProps/app.xml" Id="Rccd00a49102f48d5" /><Relationship Type="http://schemas.openxmlformats.org/officeDocument/2006/relationships/officeDocument" Target="/ppt/presentation.xml" Id="R47d4a92360d344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7136c6d3c4453"/>
  </p:sldMasterIdLst>
  <p:notesMasterIdLst>
    <p:notesMasterId xmlns:r="http://schemas.openxmlformats.org/officeDocument/2006/relationships" r:id="Rd5f1d51d39d64806"/>
  </p:notesMasterIdLst>
  <p:sldIdLst>
    <p:sldId xmlns:r="http://schemas.openxmlformats.org/officeDocument/2006/relationships" id="256" r:id="R223a06e3ed224dd8"/>
    <p:sldId xmlns:r="http://schemas.openxmlformats.org/officeDocument/2006/relationships" id="257" r:id="Red7c1f7034ca4974"/>
    <p:sldId xmlns:r="http://schemas.openxmlformats.org/officeDocument/2006/relationships" id="258" r:id="R80b18f1e52674599"/>
    <p:sldId xmlns:r="http://schemas.openxmlformats.org/officeDocument/2006/relationships" id="259" r:id="R9b37a3845b5a429c"/>
    <p:sldId xmlns:r="http://schemas.openxmlformats.org/officeDocument/2006/relationships" id="260" r:id="Re78cd6cf638048b6"/>
    <p:sldId xmlns:r="http://schemas.openxmlformats.org/officeDocument/2006/relationships" id="261" r:id="R798a153c0eff4ee8"/>
    <p:sldId xmlns:r="http://schemas.openxmlformats.org/officeDocument/2006/relationships" id="262" r:id="Rfab61108e9ab4586"/>
    <p:sldId xmlns:r="http://schemas.openxmlformats.org/officeDocument/2006/relationships" id="263" r:id="R3a10bf9c16354ac3"/>
    <p:sldId xmlns:r="http://schemas.openxmlformats.org/officeDocument/2006/relationships" id="264" r:id="R63569af6fe964220"/>
    <p:sldId xmlns:r="http://schemas.openxmlformats.org/officeDocument/2006/relationships" id="265" r:id="Rebab52f50b244c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98b9579d814d6f" /><Relationship Type="http://schemas.openxmlformats.org/officeDocument/2006/relationships/slideMaster" Target="/ppt/slideMasters/slideMaster1.xml" Id="R3487136c6d3c4453" /><Relationship Type="http://schemas.openxmlformats.org/officeDocument/2006/relationships/notesMaster" Target="/ppt/notesMasters/notesMaster1.xml" Id="Rd5f1d51d39d64806" /><Relationship Type="http://schemas.openxmlformats.org/officeDocument/2006/relationships/presProps" Target="/ppt/presProps.xml" Id="Ra0b00536c5564ad1" /><Relationship Type="http://schemas.openxmlformats.org/officeDocument/2006/relationships/tableStyles" Target="/ppt/tableStyles.xml" Id="Rf462b06b051e472a" /><Relationship Type="http://schemas.openxmlformats.org/officeDocument/2006/relationships/slide" Target="/ppt/slides/slide1.xml" Id="R223a06e3ed224dd8" /><Relationship Type="http://schemas.openxmlformats.org/officeDocument/2006/relationships/slide" Target="/ppt/slides/slide2.xml" Id="Red7c1f7034ca4974" /><Relationship Type="http://schemas.openxmlformats.org/officeDocument/2006/relationships/slide" Target="/ppt/slides/slide3.xml" Id="R80b18f1e52674599" /><Relationship Type="http://schemas.openxmlformats.org/officeDocument/2006/relationships/slide" Target="/ppt/slides/slide4.xml" Id="R9b37a3845b5a429c" /><Relationship Type="http://schemas.openxmlformats.org/officeDocument/2006/relationships/slide" Target="/ppt/slides/slide5.xml" Id="Re78cd6cf638048b6" /><Relationship Type="http://schemas.openxmlformats.org/officeDocument/2006/relationships/slide" Target="/ppt/slides/slide6.xml" Id="R798a153c0eff4ee8" /><Relationship Type="http://schemas.openxmlformats.org/officeDocument/2006/relationships/slide" Target="/ppt/slides/slide7.xml" Id="Rfab61108e9ab4586" /><Relationship Type="http://schemas.openxmlformats.org/officeDocument/2006/relationships/slide" Target="/ppt/slides/slide8.xml" Id="R3a10bf9c16354ac3" /><Relationship Type="http://schemas.openxmlformats.org/officeDocument/2006/relationships/slide" Target="/ppt/slides/slide9.xml" Id="R63569af6fe964220" /><Relationship Type="http://schemas.openxmlformats.org/officeDocument/2006/relationships/slide" Target="/ppt/slides/slide10.xml" Id="Rebab52f50b24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8109793c6942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c171118a314973" /><Relationship Type="http://schemas.openxmlformats.org/officeDocument/2006/relationships/notesMaster" Target="/ppt/notesMasters/notesMaster1.xml" Id="R600332e0bf604c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bbac6bf2fa49f6" /><Relationship Type="http://schemas.openxmlformats.org/officeDocument/2006/relationships/notesMaster" Target="/ppt/notesMasters/notesMaster1.xml" Id="Ra10e51422cf843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7abd35ce941da" /><Relationship Type="http://schemas.openxmlformats.org/officeDocument/2006/relationships/notesMaster" Target="/ppt/notesMasters/notesMaster1.xml" Id="Re19e4bfe653c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f2ecf6e7fc4634" /><Relationship Type="http://schemas.openxmlformats.org/officeDocument/2006/relationships/notesMaster" Target="/ppt/notesMasters/notesMaster1.xml" Id="R915bfe52752c44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6adb630feb4bff" /><Relationship Type="http://schemas.openxmlformats.org/officeDocument/2006/relationships/notesMaster" Target="/ppt/notesMasters/notesMaster1.xml" Id="R40dd87ed788c49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e61b310b394fdc" /><Relationship Type="http://schemas.openxmlformats.org/officeDocument/2006/relationships/notesMaster" Target="/ppt/notesMasters/notesMaster1.xml" Id="R1e17eb13ec3646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c3284243374cf7" /><Relationship Type="http://schemas.openxmlformats.org/officeDocument/2006/relationships/notesMaster" Target="/ppt/notesMasters/notesMaster1.xml" Id="Rbb462dd1048a43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483fa60a274e50" /><Relationship Type="http://schemas.openxmlformats.org/officeDocument/2006/relationships/notesMaster" Target="/ppt/notesMasters/notesMaster1.xml" Id="R140bf9d5208847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423fc57d894c22" /><Relationship Type="http://schemas.openxmlformats.org/officeDocument/2006/relationships/notesMaster" Target="/ppt/notesMasters/notesMaster1.xml" Id="Ra47a7f00126848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22e30428924b2c" /><Relationship Type="http://schemas.openxmlformats.org/officeDocument/2006/relationships/notesMaster" Target="/ppt/notesMasters/notesMaster1.xml" Id="Rec928fcb2ee0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nhanh: bài toán giao hàng xe máy đô thị có traffic, deadline và đường bị chặn.</a:t>
            </a:r>
          </a:p>
          <a:p xmlns:a="http://schemas.openxmlformats.org/drawingml/2006/main">
            <a:r>
              <a:t>Nhấn mạnh demo học thuật: không chỉ tìm đường mà còn giải thích quyết định của thuật toán.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bài toán theo ngôn ngữ người nghe: shipper phải đi qua pickup/dropoff trong điều kiện có chi phí và ràng buộc.</a:t>
            </a:r>
          </a:p>
          <a:p xmlns:a="http://schemas.openxmlformats.org/drawingml/2006/main">
            <a:r>
              <a:t>Dẫn sang mô hình state/action/goal/cost.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Nếu cô hỏi state là gì: state không chỉ là vị trí mà còn trạng thái đơn và môi trường.</a:t>
            </a:r>
          </a:p>
          <a:p xmlns:a="http://schemas.openxmlformats.org/drawingml/2006/main">
            <a:r>
              <a:t>Cost gồm thời gian cạnh, hệ số traffic và penalty trễ/tải.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kiến trúc vừa đủ: UI không chứa logic thuật toán; thuật toán nằm trong src/app/algorithms.</a:t>
            </a:r>
          </a:p>
          <a:p xmlns:a="http://schemas.openxmlformats.org/drawingml/2006/main">
            <a:r>
              <a:t>SQLite phục vụ demo user, permission và đơn hàng.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hết chi tiết. Nói theo vai trò: baseline, heuristic, tối ưu thứ tự, môi trường phức tạp, ràng buộc, đối kháng.</a:t>
            </a:r>
          </a:p>
          <a:p xmlns:a="http://schemas.openxmlformats.org/drawingml/2006/main">
            <a:r>
              <a:t>Nếu bị hỏi trọng tâm: chọn A*, Online Replanning/AND-OR, Forward Checking, Alpha-Beta.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phao vấn đáp: mọi thuật toán đều trả lời theo state, goal, rule, result.</a:t>
            </a:r>
          </a:p>
          <a:p xmlns:a="http://schemas.openxmlformats.org/drawingml/2006/main">
            <a:r>
              <a:t>Với A*: g là chi phí đã đi, h là heuristic tới đích.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khẳng định biểu đồ là benchmark cuối cùng nếu chưa chạy batch. Gọi đây là minh họa cách đọc metric.</a:t>
            </a:r>
          </a:p>
          <a:p xmlns:a="http://schemas.openxmlformats.org/drawingml/2006/main">
            <a:r>
              <a:t>Trong demo, mở Defense Lab để xem cost/visited/runtime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Chuẩn bị trước: mở local/Vercel, đăng nhập admin/admin123.</a:t>
            </a:r>
          </a:p>
          <a:p xmlns:a="http://schemas.openxmlformats.org/drawingml/2006/main">
            <a:r>
              <a:t>Không demo quá nhiều thuật toán. Chọn 3 điểm sáng: A*, Complex, admin/shipper.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Đừng né hạn chế. Nói rõ vì đây là demo học thuật nên một số mô hình được đơn giản hóa.</a:t>
            </a:r>
          </a:p>
          <a:p xmlns:a="http://schemas.openxmlformats.org/drawingml/2006/main">
            <a:r>
              <a:t>Hướng phát triển: DB cho custom node/edge, route history, map lớn hơn, realtime traffic.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câu kết chậm, tự tin, rồi chuyển sang 'em xin sẵn sàng trả lời câu hỏi'.</a:t>
            </a:r>
          </a:p>
          <a:p xmlns:a="http://schemas.openxmlformats.org/drawingml/2006/main">
            <a:r>
              <a:t>Nếu thời gian thiếu, lướt nhanh slide 7 hoặc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c975965b445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4765198a84588" /><Relationship Type="http://schemas.openxmlformats.org/officeDocument/2006/relationships/slideLayout" Target="/ppt/slideLayouts/slideLayout1.xml" Id="Ra703118b5fd140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03118b5fd1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cff49245f4555" /><Relationship Type="http://schemas.openxmlformats.org/officeDocument/2006/relationships/image" Target="/ppt/media/image.png" Id="R6ef50ef8cbc54137" /><Relationship Type="http://schemas.openxmlformats.org/officeDocument/2006/relationships/image" Target="/ppt/media/image2.png" Id="R8d34ab70ee9b4ede" /><Relationship Type="http://schemas.openxmlformats.org/officeDocument/2006/relationships/image" Target="/ppt/media/image3.png" Id="R4e5d650b50404d55" /><Relationship Type="http://schemas.openxmlformats.org/officeDocument/2006/relationships/notesSlide" Target="/ppt/notesSlides/notesSlide1.xml" Id="Rf23c5cf70c394d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82f9a063249a7" /><Relationship Type="http://schemas.openxmlformats.org/officeDocument/2006/relationships/image" Target="/ppt/media/image4.png" Id="R0e66e43c66754140" /><Relationship Type="http://schemas.openxmlformats.org/officeDocument/2006/relationships/image" Target="/ppt/media/image5.png" Id="R80adb097dd6e4b93" /><Relationship Type="http://schemas.openxmlformats.org/officeDocument/2006/relationships/notesSlide" Target="/ppt/notesSlides/notesSlide2.xml" Id="R1b4a850b742a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83627d6a34ca7" /><Relationship Type="http://schemas.openxmlformats.org/officeDocument/2006/relationships/notesSlide" Target="/ppt/notesSlides/notesSlide3.xml" Id="R5bb4221af52542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17014b6724c62" /><Relationship Type="http://schemas.openxmlformats.org/officeDocument/2006/relationships/image" Target="/ppt/media/image6.png" Id="Rc560ef8a538c46a2" /><Relationship Type="http://schemas.openxmlformats.org/officeDocument/2006/relationships/image" Target="/ppt/media/image7.png" Id="Rbf481495cd654a6d" /><Relationship Type="http://schemas.openxmlformats.org/officeDocument/2006/relationships/notesSlide" Target="/ppt/notesSlides/notesSlide4.xml" Id="Rb7ba9dd77afd44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2302f3ef24c4b" /><Relationship Type="http://schemas.openxmlformats.org/officeDocument/2006/relationships/notesSlide" Target="/ppt/notesSlides/notesSlide5.xml" Id="Re43103253c2741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b53943cd54a3f" /><Relationship Type="http://schemas.openxmlformats.org/officeDocument/2006/relationships/notesSlide" Target="/ppt/notesSlides/notesSlide6.xml" Id="Raf8e23f42b3746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e6cedd1d74964" /><Relationship Type="http://schemas.openxmlformats.org/officeDocument/2006/relationships/chart" Target="/ppt/slides/charts/chart1.xml" Id="Rcc23b0369a984429" /><Relationship Type="http://schemas.openxmlformats.org/officeDocument/2006/relationships/notesSlide" Target="/ppt/notesSlides/notesSlide7.xml" Id="R3e4cb176a08a41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802b61f744820" /><Relationship Type="http://schemas.openxmlformats.org/officeDocument/2006/relationships/image" Target="/ppt/media/image8.png" Id="R88395995333e4c0e" /><Relationship Type="http://schemas.openxmlformats.org/officeDocument/2006/relationships/image" Target="/ppt/media/image9.png" Id="Reb9dba92745648cc" /><Relationship Type="http://schemas.openxmlformats.org/officeDocument/2006/relationships/image" Target="/ppt/media/image10.png" Id="Rd44e74a7f5de476e" /><Relationship Type="http://schemas.openxmlformats.org/officeDocument/2006/relationships/notesSlide" Target="/ppt/notesSlides/notesSlide8.xml" Id="Rf96d139854944e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ad470355c4ec5" /><Relationship Type="http://schemas.openxmlformats.org/officeDocument/2006/relationships/notesSlide" Target="/ppt/notesSlides/notesSlide9.xml" Id="R460c80eee6d149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89a7bafd64109" /><Relationship Type="http://schemas.openxmlformats.org/officeDocument/2006/relationships/notesSlide" Target="/ppt/notesSlides/notesSlide10.xml" Id="R8def7f5486df413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Node mở rộng minh họa</c:v>
          </c:tx>
          <c:spPr>
            <a:solidFill xmlns:a="http://schemas.openxmlformats.org/drawingml/2006/main">
              <a:srgbClr val="0B74D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BFS</c:v>
              </c:pt>
              <c:pt idx="1">
                <c:v>UCS</c:v>
              </c:pt>
              <c:pt idx="2">
                <c:v>A*</c:v>
              </c:pt>
              <c:pt idx="3">
                <c:v>Replan</c:v>
              </c:pt>
              <c:pt idx="4">
                <c:v>A-Beta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15</c:v>
              </c:pt>
              <c:pt idx="2">
                <c:v>9</c:v>
              </c:pt>
              <c:pt idx="3">
                <c:v>11</c:v>
              </c:pt>
              <c:pt idx="4">
                <c:v>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75729A-9E80-4AF3-B9D6-DE5FBE1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60795-5F46-4070-9FA4-18CDC581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471AC-093C-4B9A-928A-C263BA25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063EE-0E38-467E-9A8E-20D09534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01 /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7ADF5-3E79-4E30-B583-672A8F10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906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93D29-D645-4051-9060-8DDF210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95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9143"/>
                </a:solidFill>
              </a:defRPr>
            </a:pPr>
            <a:r>
              <a:rPr sz="1725" b="1">
                <a:solidFill>
                  <a:srgbClr val="C89143"/>
                </a:solidFill>
              </a:rPr>
              <a:t>Smart Urban Delivery Planner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FCCC1-BC04-4305-885E-E8DD8B13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6F"/>
                </a:solidFill>
              </a:defRPr>
            </a:pPr>
            <a:r>
              <a:rPr sz="1650" b="0">
                <a:solidFill>
                  <a:srgbClr val="53606F"/>
                </a:solidFill>
              </a:rPr>
              <a:t>So sánh 6 nhóm thuật toán AI cho bài toán lập tuyến giao hàng đô thị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1A5A6-786A-480E-AFC5-C3B16BD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3143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1AA"/>
          </a:solidFill>
          <a:ln xmlns:a="http://schemas.openxmlformats.org/drawingml/2006/main" w="9525">
            <a:solidFill>
              <a:srgbClr val="FFE1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31E0-B1E7-4676-A2CE-34D9DA73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81375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20 phút: slide + demo + vấn đáp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B4CDB-FF0C-447A-B592-4D4167E3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76600"/>
            <a:ext cx="1104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9525">
            <a:solidFill>
              <a:srgbClr val="E9F6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95231-9684-421C-B06A-FAD8679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9D72"/>
                </a:solidFill>
              </a:defRPr>
            </a:pPr>
            <a:r>
              <a:rPr sz="1200" b="1">
                <a:solidFill>
                  <a:srgbClr val="1E9D72"/>
                </a:solidFill>
              </a:rPr>
              <a:t>Nhóm 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50ef8cbc54137"/>
          <a:stretch xmlns:a="http://schemas.openxmlformats.org/drawingml/2006/main"/>
        </p:blipFill>
        <p:spPr>
          <a:xfrm xmlns:a="http://schemas.openxmlformats.org/drawingml/2006/main">
            <a:off x="8191500" y="110490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4ab70ee9b4ede"/>
          <a:stretch xmlns:a="http://schemas.openxmlformats.org/drawingml/2006/main"/>
        </p:blipFill>
        <p:spPr>
          <a:xfrm xmlns:a="http://schemas.openxmlformats.org/drawingml/2006/main">
            <a:off x="9906000" y="335280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d650b50404d55"/>
          <a:stretch xmlns:a="http://schemas.openxmlformats.org/drawingml/2006/main"/>
        </p:blipFill>
        <p:spPr>
          <a:xfrm xmlns:a="http://schemas.openxmlformats.org/drawingml/2006/main">
            <a:off x="10572750" y="28956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2189E-700E-46F7-82E5-785AD89D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467850" y="4171950"/>
            <a:ext cx="3238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5D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450BD-0CB8-4FDC-8142-75E140EF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6720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1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BE72F-BDD4-424B-BF6C-CBA08A9D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F"/>
                </a:solidFill>
              </a:defRPr>
            </a:pPr>
            <a:r>
              <a:rPr sz="1350" b="0">
                <a:solidFill>
                  <a:srgbClr val="53606F"/>
                </a:solidFill>
              </a:rPr>
              <a:t>Nguyễn Đức Phát - Nguyễn Văn Thi</a:t>
            </a:r>
          </a:p>
          <a:p xmlns:a="http://schemas.openxmlformats.org/drawingml/2006/main">
            <a:pPr algn="l">
              <a:defRPr sz="1350" b="0">
                <a:solidFill>
                  <a:srgbClr val="53606F"/>
                </a:solidFill>
              </a:defRPr>
            </a:pPr>
            <a:r>
              <a:rPr sz="1350" b="0">
                <a:solidFill>
                  <a:srgbClr val="53606F"/>
                </a:solidFill>
              </a:rPr>
              <a:t>GVHD: TS. Phan Thị Huyền Trang</a:t>
            </a:r>
          </a:p>
        </p:txBody>
      </p:sp>
    </p:spTree>
    <p:extLst>
      <p:ext uri="{BB962C8B-B14F-4D97-AF65-F5344CB8AC3E}">
        <p14:creationId xmlns:p14="http://schemas.microsoft.com/office/powerpoint/2010/main" val="1652422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AA1E49-7996-43E5-9589-B7D705B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96EC0-EB1A-4FEC-9568-C91CCAB8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EFD63-6C9C-46E8-8292-3E8E536A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A183E-C19F-445A-B5BE-D67C70E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02 /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15EB9-61CB-4A59-9A41-02F9203F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Bài toán đặt 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798F1-9F05-4A33-B765-32A35225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Từ nghiệp vụ giao hàng đến mô hình tìm kiếm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924FB-A95C-46A4-903B-AADD58EE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DF00A-3CD4-4B64-824F-F792737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FA6DF-9983-4E67-8613-3379A25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908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42E30-E314-4225-BCD7-881A1751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Đầu vào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E379E-3681-42E5-943A-08833D9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Shipper, đơn hàng, pickup/dropoff, deadline, tải trọng, traffic và cạnh bị chặn.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872FC-D2BC-4E68-9468-0914C7F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2F1C1-59B9-4580-9650-DB68690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908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2E9BF-409F-44AC-A750-45FCD95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Mục tiêu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29B13-4BEA-4825-AE50-1357134A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Tìm tuyến phù hợp, có metric rõ và có thể giải thích khi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8E903-5429-4F4C-9674-D7C48ABC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2857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EF756-A723-4958-9E5B-E29676B4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5D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54E0A-333C-42F4-B675-FF39486D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Khó khăn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DFE71-C6EC-4E49-B61B-9A71F177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Ràng buộc nghiệp vụ, thiếu quan sát đầy đủ và disruption bất lợi.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0CC38-3DFD-4309-87BC-5C720B6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2381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D35C"/>
          </a:solidFill>
          <a:ln xmlns:a="http://schemas.openxmlformats.org/drawingml/2006/main" w="9525">
            <a:solidFill>
              <a:srgbClr val="FFD3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B262D-39A7-4ACF-B111-41B6C40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Câu hỏi bảo vệ chính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E63BC-7DD3-4298-A526-169BE136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74DE"/>
                </a:solidFill>
              </a:defRPr>
            </a:pPr>
            <a:r>
              <a:rPr sz="2100" b="1">
                <a:solidFill>
                  <a:srgbClr val="0B74DE"/>
                </a:solidFill>
              </a:rPr>
              <a:t>Thuật toán nào phù hợp với từng tình huống giao hàng, và vì sao?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6e43c66754140"/>
          <a:stretch xmlns:a="http://schemas.openxmlformats.org/drawingml/2006/main"/>
        </p:blipFill>
        <p:spPr>
          <a:xfrm xmlns:a="http://schemas.openxmlformats.org/drawingml/2006/main">
            <a:off x="9677400" y="47244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db097dd6e4b93"/>
          <a:stretch xmlns:a="http://schemas.openxmlformats.org/drawingml/2006/main"/>
        </p:blipFill>
        <p:spPr>
          <a:xfrm xmlns:a="http://schemas.openxmlformats.org/drawingml/2006/main">
            <a:off x="10325100" y="4686300"/>
            <a:ext cx="514350" cy="51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90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F08791-B758-4BEC-8C54-2158D6D7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6C282-75FD-4C05-827C-2A9F0303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4890C-7183-41BD-96E3-F25C413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16A66-C4CB-40D0-8A8B-D16B95C8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03 /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7FCDB-F6A7-4665-AE07-0872641F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Mô hình hóa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93D40-36CC-4AE5-BA24-C75A2118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State, initial state, goal test và cost 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2DEB7-60BA-4675-8964-A969F806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48499-956F-4297-BE7B-FC142167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1A968-815E-473D-B375-628A1F39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EA583-1320-41A8-88A7-69491192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01A33-4EAF-494F-B01F-4AA980C9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vị trí shipper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đơn đã nhận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trạng thái cạnh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F4003-C895-4F06-BF11-A6C3D436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860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3D44B-9048-4CFD-BF19-ECC5AF7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49C52-780D-49C7-8675-1B5DF30A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74B78-B991-46A6-959E-9A39990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INITIAL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77EC1-0286-495B-9C55-10B0BEB8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vị trí hiện tại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hoặc xuất phát từ kho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A6899-57EA-4926-8F88-2F5C4A3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860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D2255-1C65-4CC0-8C06-6B7E1282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3EEBA-4372-485A-BE06-7C99D560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82A54-8CB3-4CAB-9CC6-52CE211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GOAL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2F237-9560-41FF-B9EE-E5F5B8E6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hoàn tất pickup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và dropoff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D13CE-BD3C-4511-9D4A-93B6A145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860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5F688-5C69-4C5B-BD13-B6C8FB9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5D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C4BE6-AC30-42DE-A6D6-6A48E62D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3C2F5-298D-4934-AD8C-4959601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6C61F-2C27-4801-968E-50724923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base time + traffic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+ penalty trễ/tải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5DD4D-7296-4F3E-B2B6-7867554A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1714500" y="48768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BD1BD-FF6F-446B-B4D3-696D4B1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742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4361EF-7E3C-4C7A-9303-016B7A3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958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816742-CD70-420C-81AF-517BD952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Điểm nhấn khi vấn đáp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B2E7F-712A-4E82-88FF-56C33E48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02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App dùng OSM cache để hiển thị bản đồ; quyết định routing vẫn do thuật toán Python trong project thực hiện.</a:t>
            </a:r>
          </a:p>
        </p:txBody>
      </p:sp>
    </p:spTree>
    <p:extLst>
      <p:ext uri="{BB962C8B-B14F-4D97-AF65-F5344CB8AC3E}">
        <p14:creationId xmlns:p14="http://schemas.microsoft.com/office/powerpoint/2010/main" val="44332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E082A-3525-4C23-ADF8-3BB96D2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3E7AC-6AA6-4644-8974-CB5FDFD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E0A28-893E-4695-8090-B471CD4D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18CA5-CE2E-4C28-B009-50A75C5D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04 /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F6F0D-8A81-4B5A-83C5-5A24E8E9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Thiết kế hệ thống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FB756-0CE7-4704-91C5-70CDDC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Tách UI, API, service, thuật toán và 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66D67-4DC8-40D7-BA6A-3CB9A9F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0F622-C681-4496-B58D-82E37167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6E909-D8D3-4FC4-BA90-99366833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Flet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DFFA-6B9E-4385-86D2-4E42A70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Defense Lab / Shipper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B57C8-EB10-4756-A4F7-6C504E8A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4325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AA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638CF-D600-4075-A2F0-39A920DE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9D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9617C-9948-4FAE-A50B-122569DF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AC55F-42BE-4552-93A5-24DEFF6C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38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API routers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0C6DF-67DD-409D-B052-12E0558E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AA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04EBF-4A5A-4B5B-87B0-59DD043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91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618EB-5C12-42A7-9B43-A6648B2D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299B7-E710-43D9-9402-147C2DBF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38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nghiệp vụ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CEF36-6795-4E49-9B18-37CF27AE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4325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AA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35B6E-CA2D-4759-8350-AECE8797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53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7215D-4500-48F3-9A10-106DD09D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Algorithms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54423-990D-4583-B264-7EA6991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6 nhóm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47F02-B82D-401F-A466-C3A6119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4000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1AA"/>
          </a:solidFill>
          <a:ln xmlns:a="http://schemas.openxmlformats.org/drawingml/2006/main" w="9525">
            <a:solidFill>
              <a:srgbClr val="FFE1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BE4FA-69B4-4CF3-A803-37EBC2AE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0532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SQLite + OSM graph cache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048F5-53AC-4FB9-9BC1-EFC28EA0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5300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user, nhóm shipper, permission, đơn hàng, graph Quận 1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0ef8a538c46a2"/>
          <a:stretch xmlns:a="http://schemas.openxmlformats.org/drawingml/2006/main"/>
        </p:blipFill>
        <p:spPr>
          <a:xfrm xmlns:a="http://schemas.openxmlformats.org/drawingml/2006/main">
            <a:off x="9525000" y="455295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81495cd654a6d"/>
          <a:stretch xmlns:a="http://schemas.openxmlformats.org/drawingml/2006/main"/>
        </p:blipFill>
        <p:spPr>
          <a:xfrm xmlns:a="http://schemas.openxmlformats.org/drawingml/2006/main">
            <a:off x="10172700" y="4552950"/>
            <a:ext cx="514350" cy="51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7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FCED7F-96FF-46E3-868B-644573B5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9E488-01DD-4943-80A0-EE209E8C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E3BA5-8F6F-4309-B204-FB87919D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B8FC2-0924-43C8-A7BE-22054C12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05 / algorithms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FD246-02E4-45E8-8988-1405F998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6 nhóm thuật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955FE-6718-4685-BEF7-743BE75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Mỗi nhóm giải một lát cắt khác nhau của bài toán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8A770-B11F-44B7-9EAA-0BE5EEDB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04534-8193-484C-A0F1-52044C99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3666A-D165-440D-A97D-B94FD223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0DC19-9AE2-4415-861B-7BC9BBA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Uninformed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F4B85-DE5E-4406-951D-C1B3ADF3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BFS / DFS / UCS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baseline tìm đường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CC965-961E-4CFA-B3E2-E605BC69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208C1-AD0D-4743-87CA-230919C4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384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63F82-F6D2-41FD-9770-21879E45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Informed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ABD8B-5344-4AEF-B608-26E97E69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Greedy / A*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heuristic định hướng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37AF8-49F9-4F8F-9E5A-7BE194B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74D4F-9E63-4BB4-B79B-9B15DD6D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1B64A-0542-4F66-96F3-C02D43D0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8B6F6-B30F-410D-8BE4-D154C600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Hill / SA / Beam / GA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tối ưu nhiều đơn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CCFFF-EB07-4F50-B0AB-D7650D48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3B5F4-DA14-4B97-A601-0676D512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7DFD6-24BB-4CA6-9F57-940BA33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Complex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97741-F1F3-452A-9C43-68518E1A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Belief / Replan / AND-OR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thiếu quan sát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F77F0-A120-4161-B92B-8B968038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9570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9E859-572B-4092-837B-A2DF6BE2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671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5D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C0C42-E437-440A-8D47-BF94214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CSP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5236B-356B-4E4E-B06D-41ADD657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81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MRV / Forward Checking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ràng buộc hợp lệ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F5000-A061-46EE-BED8-423B5783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E7039-9091-44D3-A25F-FD2F915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5A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5E435F-B78A-4D2A-9FEE-3843EC18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Adversarial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0A39A-B7D9-4C96-A4E2-0EA64B33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81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Minimax / Alpha-Beta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worst-case disruption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14B9E3-8480-4417-AE46-E578A5EE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4DE"/>
                </a:solidFill>
              </a:defRPr>
            </a:pPr>
            <a:r>
              <a:rPr sz="1800" b="1">
                <a:solidFill>
                  <a:srgbClr val="0B74DE"/>
                </a:solidFill>
              </a:rPr>
              <a:t>Slide chính chỉ nêu vai trò; phần demo dùng trace để chứng minh.</a:t>
            </a:r>
          </a:p>
        </p:txBody>
      </p:sp>
    </p:spTree>
    <p:extLst>
      <p:ext uri="{BB962C8B-B14F-4D97-AF65-F5344CB8AC3E}">
        <p14:creationId xmlns:p14="http://schemas.microsoft.com/office/powerpoint/2010/main" val="2064667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74556-2AC9-4B11-B955-616DD257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B5941-3799-43FF-B2FE-D0AC01D1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EEFAB-C738-47C2-9C8A-236EE435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E17EA-F30C-4685-9389-79A50E22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06 /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FA331-365D-4AA9-8843-353FB7AF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Khung trả lời thuật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1C6FE-17FD-421D-B128-01FF20DC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Dùng cùng một cấu trúc để không bị rối khi vấn đáp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0FC11-3C99-45A8-AD72-175E80BC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701E2-3EF1-44A9-9261-C90009F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E884D-921C-4A56-9126-E43BB669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C376B-716F-4E62-BB8D-15A37FC9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Trạng thái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902E1-87EF-465B-BDC8-D5BB06C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shipper đang ở đâu,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biết gì về môi trường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FAD0B-55F4-44DC-B65A-844A18B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FDF42-983D-4CB3-A8C7-DE332E89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5AF5A-3503-401E-9793-5DB81E8B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56D4F-E2F6-4605-9AF2-00328374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Mục tiêu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CBA15-FD9F-4D60-AF00-59085D5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đạt pickup/dropoff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hoặc thỏa ràng buộc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C817C-5755-4C9B-8FE7-9DB82D7F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480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17DEE-0C40-4048-BAB2-7FA247D0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406C0-9A91-43BF-A1D6-3BFE9D55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69F2B-4292-4D85-A3B9-983ABAC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Luật chọn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576BA-4A0E-4A8D-BBE1-9FAF05D0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frontier, heuristic,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domain, alpha/beta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4067E-3956-430B-A962-6779C795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DD806-A2B5-4FB4-BFC8-9339EB39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5D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69C7B-40C9-4DDD-9DDE-035721DE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43B8B-3235-42B1-8C70-EEF9B4C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Kết quả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54C34-349E-4E27-A23B-B9CBD13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path, cost, visited,</a:t>
            </a:r>
          </a:p>
          <a:p xmlns:a="http://schemas.openxmlformats.org/drawingml/2006/main">
            <a:pPr algn="ctr">
              <a:defRPr sz="1200" b="0">
                <a:solidFill>
                  <a:srgbClr val="53606F"/>
                </a:solidFill>
              </a:defRPr>
            </a:pPr>
            <a:r>
              <a:rPr sz="1200" b="0">
                <a:solidFill>
                  <a:srgbClr val="53606F"/>
                </a:solidFill>
              </a:rPr>
              <a:t>trace, route mới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F64D8D-63BD-4C92-82C4-76BA0019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5715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1AA"/>
          </a:solidFill>
          <a:ln xmlns:a="http://schemas.openxmlformats.org/drawingml/2006/main" w="9525">
            <a:solidFill>
              <a:srgbClr val="FFE1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9727C-E6E3-4BDF-B442-C237EF6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482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4DE"/>
                </a:solidFill>
              </a:defRPr>
            </a:pPr>
            <a:r>
              <a:rPr sz="1200" b="1">
                <a:solidFill>
                  <a:srgbClr val="0B74DE"/>
                </a:solidFill>
              </a:rPr>
              <a:t>Ví dụ A*: chọn node có f(n) = g(n) + h(n)</a:t>
            </a:r>
          </a:p>
        </p:txBody>
      </p:sp>
    </p:spTree>
    <p:extLst>
      <p:ext uri="{BB962C8B-B14F-4D97-AF65-F5344CB8AC3E}">
        <p14:creationId xmlns:p14="http://schemas.microsoft.com/office/powerpoint/2010/main" val="540257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1E03CD-7883-48CA-B212-8B0FA150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E5C3F-A17D-4702-9664-9B3F0DC6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95BB3-1666-483E-B09E-86E2A40B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B78E5-ED91-4D7B-A885-EA6925BB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07 /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FD3D6-01E4-4715-A58D-4FFA868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Thực nghiệm &amp; kết quả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A28E7-5A52-4466-88B1-9D81E470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Đọc kết quả bằng trace, cost, visited nodes và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D80DF-F435-468A-AFEE-EC5EAB2C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BF06E-CD73-470C-83B5-EF0BCB0E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8958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1714500" y="2705100"/>
          <a:ext xmlns:a="http://schemas.openxmlformats.org/drawingml/2006/main" cx="4095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23b0369a98442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B53D1-3C22-4076-B5FE-F010448F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3714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E1AA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F2391-9453-403B-9E8E-4C461E73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046B9-A6DC-4E0A-8298-E8BD18D9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Cách nói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9959C-46FD-494D-820A-69760974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861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A* thường mở ít node hơn baseline khi heuristic phù hợp.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Local Search phù hợp tối ưu thứ tự nhiều đơn.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Complex/CSP/Adversarial xử lý tình huống khó hơn shortest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011FF-13C7-40BF-A41D-7C04C899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6F"/>
                </a:solidFill>
              </a:defRPr>
            </a:pPr>
            <a:r>
              <a:rPr sz="1500" b="0">
                <a:solidFill>
                  <a:srgbClr val="53606F"/>
                </a:solidFill>
              </a:rPr>
              <a:t>Biểu đồ này là minh họa cách đọc metric; demo app sẽ xem số thật trên Defense Lab.</a:t>
            </a:r>
          </a:p>
        </p:txBody>
      </p:sp>
    </p:spTree>
    <p:extLst>
      <p:ext uri="{BB962C8B-B14F-4D97-AF65-F5344CB8AC3E}">
        <p14:creationId xmlns:p14="http://schemas.microsoft.com/office/powerpoint/2010/main" val="869537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FA151-60E8-4066-9CC6-C5C2FD6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A42FD-CB41-4D62-A2B4-D89DA6F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44485-7D1C-4C0F-9839-FFE8EF24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1238C-CAF6-4A01-8229-F7103409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08 /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67FD8-0674-4413-AAF0-826BA665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Kịch bản demo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020E-E150-4C26-A74D-14F66AE2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Giữ demo 5-7 phút, tập trung vào điều cô cần thấy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BE5DA-D4B8-4A9A-ACCA-55EF816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0D9A3-D3B4-49D9-A16F-57EF93D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3D6B1-9D74-4895-9A2A-51C7DF33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336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D7031-1A4D-4803-BDF7-DAD751F7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Defense 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96DD7-BF2C-40E6-8849-3DD6EABA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A* step-by-step: frontier, visited, g/h/f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B147F-CCAB-4701-9107-B6FEEA2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CC8E0-8845-44A9-8049-5FB01478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81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82252-784E-4CF7-85F2-6E189E72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24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So sánh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1C722-BE65-49EB-9045-4258D5B3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BFS/UCS hoặc Local Search để thấy khác biệt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40315-480A-4500-A9A1-9764992A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7B4586-0B39-4F98-85CE-41D2C288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29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5FF24-FE66-4004-AA53-A42A35A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Complex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BFCD1-CAC9-47F2-884E-EF16630F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Online Replanning hoặc AND-OR conditional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07779-2F6F-4681-86EC-8778841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17978-2C14-4B89-B2BE-AA7E6CE6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7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73048-ED7B-43A2-A77C-599C2009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70096-D879-4B60-8F86-C7F8F0CA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bật/tắt quyền thuật toán theo nhóm shipper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55889-B0CB-4420-94E4-947B63D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33B05-875B-4E0E-B47E-365C662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244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253F3-9161-457F-A657-FDC8F6D0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67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Shipper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9FA268-D899-4089-A137-5665EAF5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958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nhận đơn, lập tuyến, xem playback trên bản đồ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95995333e4c0e"/>
          <a:stretch xmlns:a="http://schemas.openxmlformats.org/drawingml/2006/main"/>
        </p:blipFill>
        <p:spPr>
          <a:xfrm xmlns:a="http://schemas.openxmlformats.org/drawingml/2006/main">
            <a:off x="9906000" y="2400300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dba92745648cc"/>
          <a:stretch xmlns:a="http://schemas.openxmlformats.org/drawingml/2006/main"/>
        </p:blipFill>
        <p:spPr>
          <a:xfrm xmlns:a="http://schemas.openxmlformats.org/drawingml/2006/main">
            <a:off x="9791700" y="356235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e74a7f5de476e"/>
          <a:stretch xmlns:a="http://schemas.openxmlformats.org/drawingml/2006/main"/>
        </p:blipFill>
        <p:spPr>
          <a:xfrm xmlns:a="http://schemas.openxmlformats.org/drawingml/2006/main">
            <a:off x="10429875" y="3562350"/>
            <a:ext cx="514350" cy="51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78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3DC7DA-B852-4163-B907-9CBD52A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4102B-A433-41B7-9FD0-73E14B8B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B1606-3E71-4120-B0A6-F3B13D9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4664D-20ED-4C96-AF85-729BD24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09 /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A6102-989B-4B62-BEF7-DA2A8716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Đánh giá &amp; thảo luận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47AF2-C7A5-452C-8CAA-128FC2CC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Điểm đạt được, hạn chế và hướng phát triển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77873-EB2E-404A-AD57-8DD298DA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3C305-99B4-4AC0-8FCD-C9F41A0E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C1E40-5D7E-4BD6-ACE9-EA4F85C4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75586-6D3D-4112-A5D5-1660C84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Đạt được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413FF-2D9D-4708-894C-10BD5A8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UI demo, API, SQLite, phân quyền thuật toán, trace step-by-step, 6 nhóm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08CB7-F7E9-4FE7-852F-81CFF40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F4057-BF66-4074-95D1-66B4B63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289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C29E1-5849-4315-B3C6-F1C984D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Hạn chế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90F66-D4D4-4D3A-94E5-02647D1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Graph cache còn nhỏ; traffic và observation được đơn giản hóa cho mục tiêu học thuật.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E6DFC-C74C-4F41-8887-D4DCDA82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51466-D37D-4858-AC86-75DA9CB1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983E0-A56F-4699-AA2C-22621AC9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Phát triển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9CEF9-E54F-4DCE-9882-AA5FE34E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Custom node/edge trong DB, route history, bản đồ lớn hơn, traffic realtime, multi-driver routing.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C0C24-53AF-4F00-8304-FA12EF72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1619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D35C"/>
          </a:solidFill>
          <a:ln xmlns:a="http://schemas.openxmlformats.org/drawingml/2006/main" w="9525">
            <a:solidFill>
              <a:srgbClr val="FFD3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8F2F6-07B9-43CD-9BA8-24FB0357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149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Thông điệp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821C0-87D2-415F-8A94-6C4E63D6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9D72"/>
                </a:solidFill>
              </a:defRPr>
            </a:pPr>
            <a:r>
              <a:rPr sz="1800" b="1">
                <a:solidFill>
                  <a:srgbClr val="1E9D72"/>
                </a:solidFill>
              </a:rPr>
              <a:t>Hệ thống ưu tiên khả năng giải thích thuật toán, không chỉ giao diện chạy được.</a:t>
            </a:r>
          </a:p>
        </p:txBody>
      </p:sp>
    </p:spTree>
    <p:extLst>
      <p:ext uri="{BB962C8B-B14F-4D97-AF65-F5344CB8AC3E}">
        <p14:creationId xmlns:p14="http://schemas.microsoft.com/office/powerpoint/2010/main" val="198802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D8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58F70-7165-4507-BFDF-72E1B3E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9C271-34BE-4391-810E-D07C411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B1F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004A6-038C-498F-AB67-D8159F6A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Find Your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287F7-2490-4AD2-B5D4-EB33CA5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06F"/>
                </a:solidFill>
              </a:defRPr>
            </a:pPr>
            <a:r>
              <a:rPr sz="900" b="0">
                <a:solidFill>
                  <a:srgbClr val="53606F"/>
                </a:solidFill>
              </a:rPr>
              <a:t>10 / 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2C202-8D46-4027-A6C4-13D1E97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Kết luận &amp; vấn đáp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60475-6B5D-4EAC-928D-B50414C1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F"/>
                </a:solidFill>
              </a:defRPr>
            </a:pPr>
            <a:r>
              <a:rPr sz="1275" b="0">
                <a:solidFill>
                  <a:srgbClr val="53606F"/>
                </a:solidFill>
              </a:rPr>
              <a:t>Chốt bài bằng 3 ý, sau đó chuyển sang câu hỏi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D119D-8A12-466B-B3F7-626FFD85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B6BAE-7114-4385-ACA2-2F67B3D6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428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D35C"/>
          </a:solidFill>
          <a:ln xmlns:a="http://schemas.openxmlformats.org/drawingml/2006/main" w="9525">
            <a:solidFill>
              <a:srgbClr val="FFD3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07088-CA9F-483C-920A-9E4BBF98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 ý chốt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CBD61-61A8-484C-B340-D00B13B2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4DE"/>
                </a:solidFill>
              </a:defRPr>
            </a:pPr>
            <a:r>
              <a:rPr sz="1800" b="1">
                <a:solidFill>
                  <a:srgbClr val="0B74DE"/>
                </a:solidFill>
              </a:rPr>
              <a:t>1. Bài toán giao hàng được mô hình hóa thành graph có ràng buộc.</a:t>
            </a:r>
          </a:p>
          <a:p xmlns:a="http://schemas.openxmlformats.org/drawingml/2006/main">
            <a:pPr algn="l">
              <a:defRPr sz="1800" b="1">
                <a:solidFill>
                  <a:srgbClr val="0B74DE"/>
                </a:solidFill>
              </a:defRPr>
            </a:pPr>
            <a:r>
              <a:rPr sz="1800" b="1">
                <a:solidFill>
                  <a:srgbClr val="0B74DE"/>
                </a:solidFill>
              </a:rPr>
              <a:t>2. 6 nhóm thuật toán giải các tình huống khác nhau.</a:t>
            </a:r>
          </a:p>
          <a:p xmlns:a="http://schemas.openxmlformats.org/drawingml/2006/main">
            <a:pPr algn="l">
              <a:defRPr sz="1800" b="1">
                <a:solidFill>
                  <a:srgbClr val="0B74DE"/>
                </a:solidFill>
              </a:defRPr>
            </a:pPr>
            <a:r>
              <a:rPr sz="1800" b="1">
                <a:solidFill>
                  <a:srgbClr val="0B74DE"/>
                </a:solidFill>
              </a:rPr>
              <a:t>3. App cho phép xem trace, metric và phân quyền thuật toán.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5C650-0CF6-4BC3-863A-4929A9A5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667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1CDDA-E18A-4E0E-96F9-573E7145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5D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80BE4-E5C8-4704-8C93-12AF094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Câu hỏi dễ gặp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559B1-4905-47F0-B246-DD9EFCF1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2286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State/goal/cost là gì?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Vì sao dùng A*?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AND-OR khác Online Replanning thế nào?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Tại sao không gọi Google Directions/OSRM?</a:t>
            </a:r>
          </a:p>
          <a:p xmlns:a="http://schemas.openxmlformats.org/drawingml/2006/main">
            <a:pPr algn="l">
              <a:defRPr sz="1125" b="0">
                <a:solidFill>
                  <a:srgbClr val="53606F"/>
                </a:solidFill>
              </a:defRPr>
            </a:pPr>
            <a:r>
              <a:rPr sz="1125" b="0">
                <a:solidFill>
                  <a:srgbClr val="53606F"/>
                </a:solidFill>
              </a:rPr>
              <a:t>Hạn chế và hướng phát triển?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5F2DC-5C2C-4BB6-938B-101C353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9D72"/>
                </a:solidFill>
              </a:defRPr>
            </a:pPr>
            <a:r>
              <a:rPr sz="2100" b="1">
                <a:solidFill>
                  <a:srgbClr val="1E9D72"/>
                </a:solidFill>
              </a:rPr>
              <a:t>Find Your Path không chỉ tìm đường, mà giúp nhìn thấy cách thuật toán ra quyết định.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C34DD-CF61-42E4-B400-4F11480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096500" y="5334000"/>
            <a:ext cx="3238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45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69C99-5E2B-4B20-A468-15C80E0E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292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1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1036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2026-06-28T21:55:25.6090000Z</dcterms:created>
  <dcterms:modified xsi:type="dcterms:W3CDTF">2026-06-28T21:55:25.6090000Z</dcterms:modified>
</coreProperties>
</file>