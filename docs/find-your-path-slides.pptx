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1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slides/charts/chart2.xml" ContentType="application/vnd.openxmlformats-officedocument.drawingml.chart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4552157da38429f" /><Relationship Type="http://schemas.openxmlformats.org/officeDocument/2006/relationships/extended-properties" Target="/docProps/app.xml" Id="Rfe92e9927bcd4483" /><Relationship Type="http://schemas.openxmlformats.org/officeDocument/2006/relationships/officeDocument" Target="/ppt/presentation.xml" Id="R76242e0bf83c443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30366f3d27a4122"/>
  </p:sldMasterIdLst>
  <p:notesMasterIdLst>
    <p:notesMasterId xmlns:r="http://schemas.openxmlformats.org/officeDocument/2006/relationships" r:id="Rf331843ff42e411a"/>
  </p:notesMasterIdLst>
  <p:sldIdLst>
    <p:sldId xmlns:r="http://schemas.openxmlformats.org/officeDocument/2006/relationships" id="256" r:id="R5c8701ba7ee84e9c"/>
    <p:sldId xmlns:r="http://schemas.openxmlformats.org/officeDocument/2006/relationships" id="257" r:id="R2b0b4ccbc0b64a60"/>
    <p:sldId xmlns:r="http://schemas.openxmlformats.org/officeDocument/2006/relationships" id="258" r:id="Rec7cbcee562c4e5e"/>
    <p:sldId xmlns:r="http://schemas.openxmlformats.org/officeDocument/2006/relationships" id="259" r:id="R9a48468ceb0e4999"/>
    <p:sldId xmlns:r="http://schemas.openxmlformats.org/officeDocument/2006/relationships" id="260" r:id="R68d0d30caf794f72"/>
    <p:sldId xmlns:r="http://schemas.openxmlformats.org/officeDocument/2006/relationships" id="261" r:id="R61b76313b20a4c7a"/>
    <p:sldId xmlns:r="http://schemas.openxmlformats.org/officeDocument/2006/relationships" id="262" r:id="R507633886d2d463b"/>
    <p:sldId xmlns:r="http://schemas.openxmlformats.org/officeDocument/2006/relationships" id="263" r:id="R34f17a53fdee4c95"/>
    <p:sldId xmlns:r="http://schemas.openxmlformats.org/officeDocument/2006/relationships" id="264" r:id="Rdd20d828b70d4172"/>
    <p:sldId xmlns:r="http://schemas.openxmlformats.org/officeDocument/2006/relationships" id="265" r:id="Ra333e19fcb5c47ac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5d077638c6e4f74" /><Relationship Type="http://schemas.openxmlformats.org/officeDocument/2006/relationships/slideMaster" Target="/ppt/slideMasters/slideMaster1.xml" Id="Rf30366f3d27a4122" /><Relationship Type="http://schemas.openxmlformats.org/officeDocument/2006/relationships/notesMaster" Target="/ppt/notesMasters/notesMaster1.xml" Id="Rf331843ff42e411a" /><Relationship Type="http://schemas.openxmlformats.org/officeDocument/2006/relationships/presProps" Target="/ppt/presProps.xml" Id="R60acc392a944427d" /><Relationship Type="http://schemas.openxmlformats.org/officeDocument/2006/relationships/tableStyles" Target="/ppt/tableStyles.xml" Id="R33b5fe880d6e4349" /><Relationship Type="http://schemas.openxmlformats.org/officeDocument/2006/relationships/slide" Target="/ppt/slides/slide1.xml" Id="R5c8701ba7ee84e9c" /><Relationship Type="http://schemas.openxmlformats.org/officeDocument/2006/relationships/slide" Target="/ppt/slides/slide2.xml" Id="R2b0b4ccbc0b64a60" /><Relationship Type="http://schemas.openxmlformats.org/officeDocument/2006/relationships/slide" Target="/ppt/slides/slide3.xml" Id="Rec7cbcee562c4e5e" /><Relationship Type="http://schemas.openxmlformats.org/officeDocument/2006/relationships/slide" Target="/ppt/slides/slide4.xml" Id="R9a48468ceb0e4999" /><Relationship Type="http://schemas.openxmlformats.org/officeDocument/2006/relationships/slide" Target="/ppt/slides/slide5.xml" Id="R68d0d30caf794f72" /><Relationship Type="http://schemas.openxmlformats.org/officeDocument/2006/relationships/slide" Target="/ppt/slides/slide6.xml" Id="R61b76313b20a4c7a" /><Relationship Type="http://schemas.openxmlformats.org/officeDocument/2006/relationships/slide" Target="/ppt/slides/slide7.xml" Id="R507633886d2d463b" /><Relationship Type="http://schemas.openxmlformats.org/officeDocument/2006/relationships/slide" Target="/ppt/slides/slide8.xml" Id="R34f17a53fdee4c95" /><Relationship Type="http://schemas.openxmlformats.org/officeDocument/2006/relationships/slide" Target="/ppt/slides/slide9.xml" Id="Rdd20d828b70d4172" /><Relationship Type="http://schemas.openxmlformats.org/officeDocument/2006/relationships/slide" Target="/ppt/slides/slide10.xml" Id="Ra333e19fcb5c47a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be3ecb51ea3462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8056f171cc541c5" /><Relationship Type="http://schemas.openxmlformats.org/officeDocument/2006/relationships/notesMaster" Target="/ppt/notesMasters/notesMaster1.xml" Id="R07b7ec5705244ee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067c1e018bf438c" /><Relationship Type="http://schemas.openxmlformats.org/officeDocument/2006/relationships/notesMaster" Target="/ppt/notesMasters/notesMaster1.xml" Id="R1bfdabca08b74fd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ab2c6a7fd73467c" /><Relationship Type="http://schemas.openxmlformats.org/officeDocument/2006/relationships/notesMaster" Target="/ppt/notesMasters/notesMaster1.xml" Id="R254a7c138d7d4b7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b27cff922474b20" /><Relationship Type="http://schemas.openxmlformats.org/officeDocument/2006/relationships/notesMaster" Target="/ppt/notesMasters/notesMaster1.xml" Id="Re2e48b16780243c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d1f4bbae670492f" /><Relationship Type="http://schemas.openxmlformats.org/officeDocument/2006/relationships/notesMaster" Target="/ppt/notesMasters/notesMaster1.xml" Id="R3792ea3dc0db4af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b88dec92d1844a9" /><Relationship Type="http://schemas.openxmlformats.org/officeDocument/2006/relationships/notesMaster" Target="/ppt/notesMasters/notesMaster1.xml" Id="Rc7b95fa772fa48c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06090d7a0ab48a3" /><Relationship Type="http://schemas.openxmlformats.org/officeDocument/2006/relationships/notesMaster" Target="/ppt/notesMasters/notesMaster1.xml" Id="R7c56d19cb74b45d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e798fb089354e6d" /><Relationship Type="http://schemas.openxmlformats.org/officeDocument/2006/relationships/notesMaster" Target="/ppt/notesMasters/notesMaster1.xml" Id="R26512b2a70f74fb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ec9e587317a4f85" /><Relationship Type="http://schemas.openxmlformats.org/officeDocument/2006/relationships/notesMaster" Target="/ppt/notesMasters/notesMaster1.xml" Id="Rfa39021c584b481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1b956d19b5c44b2" /><Relationship Type="http://schemas.openxmlformats.org/officeDocument/2006/relationships/notesMaster" Target="/ppt/notesMasters/notesMaster1.xml" Id="R71be22b3815949c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9d934a122d9492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f40771302814b3b" /><Relationship Type="http://schemas.openxmlformats.org/officeDocument/2006/relationships/slideLayout" Target="/ppt/slideLayouts/slideLayout1.xml" Id="R540d1cfc0d8f4f0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40d1cfc0d8f4f0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232cdc3c194572" /><Relationship Type="http://schemas.openxmlformats.org/officeDocument/2006/relationships/notesSlide" Target="/ppt/notesSlides/notesSlide1.xml" Id="Rb5aaca44bdc9419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4f9a0717da4814" /><Relationship Type="http://schemas.openxmlformats.org/officeDocument/2006/relationships/notesSlide" Target="/ppt/notesSlides/notesSlide2.xml" Id="Re0e192f0ff7a487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002e1be4c74319" /><Relationship Type="http://schemas.openxmlformats.org/officeDocument/2006/relationships/notesSlide" Target="/ppt/notesSlides/notesSlide3.xml" Id="R97d086b0a3e94aa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8f4ecce18f403b" /><Relationship Type="http://schemas.openxmlformats.org/officeDocument/2006/relationships/notesSlide" Target="/ppt/notesSlides/notesSlide4.xml" Id="R268b66a088874d1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f80b7cc83844c1" /><Relationship Type="http://schemas.openxmlformats.org/officeDocument/2006/relationships/notesSlide" Target="/ppt/notesSlides/notesSlide5.xml" Id="R87ff1d9fa195429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10e9431ade45cc" /><Relationship Type="http://schemas.openxmlformats.org/officeDocument/2006/relationships/notesSlide" Target="/ppt/notesSlides/notesSlide6.xml" Id="Rc3883b1eeac14d4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1f4765c9df4571" /><Relationship Type="http://schemas.openxmlformats.org/officeDocument/2006/relationships/chart" Target="/ppt/slides/charts/chart1.xml" Id="Re87dced6148948cd" /><Relationship Type="http://schemas.openxmlformats.org/officeDocument/2006/relationships/notesSlide" Target="/ppt/notesSlides/notesSlide7.xml" Id="R3ca4d658f2fc4ca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fd11cd29f24547" /><Relationship Type="http://schemas.openxmlformats.org/officeDocument/2006/relationships/notesSlide" Target="/ppt/notesSlides/notesSlide8.xml" Id="R853f67991b14465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3126681d7846d4" /><Relationship Type="http://schemas.openxmlformats.org/officeDocument/2006/relationships/chart" Target="/ppt/slides/charts/chart2.xml" Id="R2d4b095f1783400a" /><Relationship Type="http://schemas.openxmlformats.org/officeDocument/2006/relationships/notesSlide" Target="/ppt/notesSlides/notesSlide9.xml" Id="R83f9e45174374dc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0da37dd668441a" /><Relationship Type="http://schemas.openxmlformats.org/officeDocument/2006/relationships/notesSlide" Target="/ppt/notesSlides/notesSlide10.xml" Id="Ra1e7cba6f83e4fae" /></Relationships>
</file>

<file path=ppt/slides/charts/chart1.xml><?xml version="1.0" encoding="utf-8"?>
<c:chartSpace xmlns:c="http://schemas.openxmlformats.org/drawingml/2006/chart">
  <c:lang val="en-US"/>
  <c:roundedCorners val="0"/>
  <c:chart>
    <c:plotArea>
      <c:layout/>
      <c:barChart>
        <c:barDir val="col"/>
        <c:varyColors val="0"/>
        <c:ser>
          <c:idx val="0"/>
          <c:order val="0"/>
          <c:tx>
            <c:v>Phút tuyến ví dụ</c:v>
          </c:tx>
          <c:spPr>
            <a:solidFill xmlns:a="http://schemas.openxmlformats.org/drawingml/2006/main">
              <a:srgbClr val="FF6B35"/>
            </a:solidFill>
          </c:spPr>
          <c:dLbls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strLit>
              <c:ptCount val="3"/>
              <c:pt idx="0">
                <c:v>BFS</c:v>
              </c:pt>
              <c:pt idx="1">
                <c:v>A*</c:v>
              </c:pt>
              <c:pt idx="2">
                <c:v>UCS</c:v>
              </c:pt>
            </c:strLit>
          </c:cat>
          <c:val>
            <c:numLit>
              <c:formatCode>General</c:formatCode>
              <c:ptCount val="3"/>
              <c:pt idx="0">
                <c:v>18.4</c:v>
              </c:pt>
              <c:pt idx="1">
                <c:v>15.8</c:v>
              </c:pt>
              <c:pt idx="2">
                <c:v>16.6</c:v>
              </c:pt>
            </c:numLit>
          </c:val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crosses val="autoZero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B8BCC4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es val="autoZero"/>
        <c:crossBetween val="between"/>
      </c:valAx>
    </c:plotArea>
    <c:plotVisOnly val="1"/>
  </c:chart>
</c:chartSpace>
</file>

<file path=ppt/slides/charts/chart2.xml><?xml version="1.0" encoding="utf-8"?>
<c:chartSpace xmlns:c="http://schemas.openxmlformats.org/drawingml/2006/chart">
  <c:lang val="en-US"/>
  <c:roundedCorners val="0"/>
  <c:chart>
    <c:plotArea>
      <c:layout/>
      <c:barChart>
        <c:barDir val="col"/>
        <c:varyColors val="0"/>
        <c:ser>
          <c:idx val="0"/>
          <c:order val="0"/>
          <c:tx>
            <c:v>Tốc độ</c:v>
          </c:tx>
          <c:spPr>
            <a:solidFill xmlns:a="http://schemas.openxmlformats.org/drawingml/2006/main">
              <a:srgbClr val="000000"/>
            </a:solidFill>
          </c:spPr>
          <c:dLbls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strLit>
              <c:ptCount val="6"/>
              <c:pt idx="0">
                <c:v>Baseline</c:v>
              </c:pt>
              <c:pt idx="1">
                <c:v>Heuristic</c:v>
              </c:pt>
              <c:pt idx="2">
                <c:v>Tối ưu cục bộ</c:v>
              </c:pt>
              <c:pt idx="3">
                <c:v>Môi trường động</c:v>
              </c:pt>
              <c:pt idx="4">
                <c:v>Ràng buộc</c:v>
              </c:pt>
              <c:pt idx="5">
                <c:v>Đối kháng</c:v>
              </c:pt>
            </c:strLit>
          </c:cat>
          <c:val>
            <c:numLit>
              <c:formatCode>General</c:formatCode>
              <c:ptCount val="6"/>
              <c:pt idx="0">
                <c:v>2</c:v>
              </c:pt>
              <c:pt idx="1">
                <c:v>4</c:v>
              </c:pt>
              <c:pt idx="2">
                <c:v>4</c:v>
              </c:pt>
              <c:pt idx="3">
                <c:v>3</c:v>
              </c:pt>
              <c:pt idx="4">
                <c:v>4</c:v>
              </c:pt>
              <c:pt idx="5">
                <c:v>3</c:v>
              </c:pt>
            </c:numLit>
          </c:val>
        </c:ser>
        <c:ser>
          <c:idx val="1"/>
          <c:order val="1"/>
          <c:tx>
            <c:v>Độ phù hợp</c:v>
          </c:tx>
          <c:spPr>
            <a:solidFill xmlns:a="http://schemas.openxmlformats.org/drawingml/2006/main">
              <a:srgbClr val="FF6B35"/>
            </a:solidFill>
          </c:spPr>
          <c:dLbls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strLit>
              <c:ptCount val="6"/>
              <c:pt idx="0">
                <c:v>Baseline</c:v>
              </c:pt>
              <c:pt idx="1">
                <c:v>Heuristic</c:v>
              </c:pt>
              <c:pt idx="2">
                <c:v>Tối ưu cục bộ</c:v>
              </c:pt>
              <c:pt idx="3">
                <c:v>Môi trường động</c:v>
              </c:pt>
              <c:pt idx="4">
                <c:v>Ràng buộc</c:v>
              </c:pt>
              <c:pt idx="5">
                <c:v>Đối kháng</c:v>
              </c:pt>
            </c:strLit>
          </c:cat>
          <c:val>
            <c:numLit>
              <c:formatCode>General</c:formatCode>
              <c:ptCount val="6"/>
              <c:pt idx="0">
                <c:v>3</c:v>
              </c:pt>
              <c:pt idx="1">
                <c:v>5</c:v>
              </c:pt>
              <c:pt idx="2">
                <c:v>4</c:v>
              </c:pt>
              <c:pt idx="3">
                <c:v>5</c:v>
              </c:pt>
              <c:pt idx="4">
                <c:v>5</c:v>
              </c:pt>
              <c:pt idx="5">
                <c:v>3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crosses val="autoZero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B8BCC4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es val="autoZero"/>
        <c:crossBetween val="between"/>
      </c:valAx>
    </c:plotArea>
    <c:legend>
      <c:legendPos val="b"/>
      <c:overlay val="0"/>
    </c:legend>
    <c:plotVisOnly val="1"/>
  </c:chart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hero-panel">
            <a:extLst xmlns:a="http://schemas.openxmlformats.org/drawingml/2006/main">
              <a:ext uri="{FF2B5EF4-FFF2-40B4-BE49-F238E27FC236}">
                <a16:creationId xmlns:a16="http://schemas.microsoft.com/office/drawing/2014/main" id="{22DBBBD8-8C45-45B0-B76F-FE0D991D8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0"/>
            <a:ext cx="52006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E5126871-161B-4885-932A-9974B79D0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52450"/>
            <a:ext cx="342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BÁO CÁO CUỐI KỲ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ECC52AB4-74DF-497A-8B33-540F62CBC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24000"/>
            <a:ext cx="6286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4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Find Your Path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E1591D83-F998-47DC-91BB-3CF6259EE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781300"/>
            <a:ext cx="5810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rPr>
              <a:t>Smart Urban Delivery Planner</a:t>
            </a:r>
          </a:p>
          <a:p xmlns:a="http://schemas.openxmlformats.org/drawingml/2006/main">
            <a:pPr algn="l">
              <a:defRPr sz="1950" b="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rPr>
              <a:t>Ứng dụng AI cho lập lộ trình giao hàng đô thị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BF1EC4F9-04B4-4920-A603-A2B75D238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334000"/>
            <a:ext cx="685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Bố cục: I. Bài toán - II. Thuật toán - III. Thực nghiệm - IV. Đánh giá - V. Kết luận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21AF89AB-5EFA-427C-BEE6-811320C8E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43650"/>
            <a:ext cx="514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61453690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">
            <a:extLst xmlns:a="http://schemas.openxmlformats.org/drawingml/2006/main">
              <a:ext uri="{FF2B5EF4-FFF2-40B4-BE49-F238E27FC236}">
                <a16:creationId xmlns:a16="http://schemas.microsoft.com/office/drawing/2014/main" id="{F14424E6-7754-4303-B944-3AE49D599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Find Your Path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5F442DAB-9441-4564-A2B3-F7D773FFD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85800"/>
            <a:ext cx="7048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Bố cục trình bày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C167CCC9-FBDB-43A7-89DC-2A12B9FE9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43650"/>
            <a:ext cx="514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A9C08323-6491-4306-91C9-FD1056BA9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24050"/>
            <a:ext cx="438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6B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FF6B35"/>
                </a:solidFill>
                <a:latin typeface="Helvetica Neue"/>
                <a:ea typeface="Helvetica Neue"/>
                <a:cs typeface="Helvetica Neue"/>
              </a:rPr>
              <a:t>I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E9C7856D-F02E-4ADF-8CE4-F0712938A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88595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Bài toán đặt ra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A4E9B51C-5E12-47E1-AC37-4DB97736F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1924050"/>
            <a:ext cx="619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Bài toán gì, PEAS, dữ liệu và ràng buộc.</a:t>
            </a:r>
          </a:p>
        </p:txBody>
      </p:sp>
      <p:sp>
        <p:nvSpPr>
          <p:cNvPr id="7" name="rule">
            <a:extLst xmlns:a="http://schemas.openxmlformats.org/drawingml/2006/main">
              <a:ext uri="{FF2B5EF4-FFF2-40B4-BE49-F238E27FC236}">
                <a16:creationId xmlns:a16="http://schemas.microsoft.com/office/drawing/2014/main" id="{79675B23-FB2D-49F9-858F-918872D74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3840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EC191063-66A8-42A6-B6A6-7A750CBAB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0"/>
            <a:ext cx="438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6B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FF6B35"/>
                </a:solidFill>
                <a:latin typeface="Helvetica Neue"/>
                <a:ea typeface="Helvetica Neue"/>
                <a:cs typeface="Helvetica Neue"/>
              </a:rPr>
              <a:t>II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6A19BF10-4840-46C7-BCAE-C81A96F2F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62890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Thuật toán áp dụng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72A8E1FF-4FD3-463A-AF63-8827BC2DB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667000"/>
            <a:ext cx="619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6 nhóm thuật toán đại diện, trạng thái bắt đầu, mục tiêu và bước giải.</a:t>
            </a:r>
          </a:p>
        </p:txBody>
      </p:sp>
      <p:sp>
        <p:nvSpPr>
          <p:cNvPr id="11" name="rule">
            <a:extLst xmlns:a="http://schemas.openxmlformats.org/drawingml/2006/main">
              <a:ext uri="{FF2B5EF4-FFF2-40B4-BE49-F238E27FC236}">
                <a16:creationId xmlns:a16="http://schemas.microsoft.com/office/drawing/2014/main" id="{AF97A17E-DDE7-4307-BB66-CC9765E7D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1813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9F71AF91-144C-4E7E-8038-42798EA4D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09950"/>
            <a:ext cx="438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6B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FF6B35"/>
                </a:solidFill>
                <a:latin typeface="Helvetica Neue"/>
                <a:ea typeface="Helvetica Neue"/>
                <a:cs typeface="Helvetica Neue"/>
              </a:rPr>
              <a:t>III</a:t>
            </a:r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8501A5AE-D74A-4AA2-A133-00C3FF105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37185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Thực nghiệm và kết quả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BB7D7D30-CC9C-4EDE-B7E9-95BB23BC1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3409950"/>
            <a:ext cx="619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Kiểm thử, trace, animation/demo và link GitHub.</a:t>
            </a:r>
          </a:p>
        </p:txBody>
      </p:sp>
      <p:sp>
        <p:nvSpPr>
          <p:cNvPr id="15" name="rule">
            <a:extLst xmlns:a="http://schemas.openxmlformats.org/drawingml/2006/main">
              <a:ext uri="{FF2B5EF4-FFF2-40B4-BE49-F238E27FC236}">
                <a16:creationId xmlns:a16="http://schemas.microsoft.com/office/drawing/2014/main" id="{6C32F5A5-D082-481A-839E-B05C576BA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2430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">
            <a:extLst xmlns:a="http://schemas.openxmlformats.org/drawingml/2006/main">
              <a:ext uri="{FF2B5EF4-FFF2-40B4-BE49-F238E27FC236}">
                <a16:creationId xmlns:a16="http://schemas.microsoft.com/office/drawing/2014/main" id="{8D12B0D2-F3D7-4E35-98B5-C9215259A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152900"/>
            <a:ext cx="438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6B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FF6B35"/>
                </a:solidFill>
                <a:latin typeface="Helvetica Neue"/>
                <a:ea typeface="Helvetica Neue"/>
                <a:cs typeface="Helvetica Neue"/>
              </a:rPr>
              <a:t>IV</a:t>
            </a:r>
          </a:p>
        </p:txBody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FA8DB123-F790-4C5D-B8FD-EB4E7BF1E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11480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Đánh giá và thảo luận</a:t>
            </a:r>
          </a:p>
        </p:txBody>
      </p: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011E7E81-A5F7-4651-8B85-7B60027CB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4152900"/>
            <a:ext cx="619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So sánh trong nhóm, giữa nhóm và nhận định áp dụng.</a:t>
            </a:r>
          </a:p>
        </p:txBody>
      </p:sp>
      <p:sp>
        <p:nvSpPr>
          <p:cNvPr id="19" name="rule">
            <a:extLst xmlns:a="http://schemas.openxmlformats.org/drawingml/2006/main">
              <a:ext uri="{FF2B5EF4-FFF2-40B4-BE49-F238E27FC236}">
                <a16:creationId xmlns:a16="http://schemas.microsoft.com/office/drawing/2014/main" id="{C39A42F1-B35F-47DA-B9FF-2E0482BD4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6672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">
            <a:extLst xmlns:a="http://schemas.openxmlformats.org/drawingml/2006/main">
              <a:ext uri="{FF2B5EF4-FFF2-40B4-BE49-F238E27FC236}">
                <a16:creationId xmlns:a16="http://schemas.microsoft.com/office/drawing/2014/main" id="{B959CA2A-549E-4DC9-A667-1C42756E8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895850"/>
            <a:ext cx="438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6B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FF6B35"/>
                </a:solidFill>
                <a:latin typeface="Helvetica Neue"/>
                <a:ea typeface="Helvetica Neue"/>
                <a:cs typeface="Helvetica Neue"/>
              </a:rPr>
              <a:t>V</a:t>
            </a:r>
          </a:p>
        </p:txBody>
      </p:sp>
      <p:sp>
        <p:nvSpPr>
          <p:cNvPr id="21" name="text">
            <a:extLst xmlns:a="http://schemas.openxmlformats.org/drawingml/2006/main">
              <a:ext uri="{FF2B5EF4-FFF2-40B4-BE49-F238E27FC236}">
                <a16:creationId xmlns:a16="http://schemas.microsoft.com/office/drawing/2014/main" id="{AB4171FC-FFAE-4148-8937-16F9F19F7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85775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Kết luận</a:t>
            </a:r>
          </a:p>
        </p:txBody>
      </p:sp>
      <p:sp>
        <p:nvSpPr>
          <p:cNvPr id="22" name="text">
            <a:extLst xmlns:a="http://schemas.openxmlformats.org/drawingml/2006/main">
              <a:ext uri="{FF2B5EF4-FFF2-40B4-BE49-F238E27FC236}">
                <a16:creationId xmlns:a16="http://schemas.microsoft.com/office/drawing/2014/main" id="{6ABB8725-6B29-4DC7-80CA-DBDC6A7CB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4895850"/>
            <a:ext cx="619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Kết quả đạt được và hướng phát triển.</a:t>
            </a:r>
          </a:p>
        </p:txBody>
      </p:sp>
      <p:sp>
        <p:nvSpPr>
          <p:cNvPr id="23" name="rule">
            <a:extLst xmlns:a="http://schemas.openxmlformats.org/drawingml/2006/main">
              <a:ext uri="{FF2B5EF4-FFF2-40B4-BE49-F238E27FC236}">
                <a16:creationId xmlns:a16="http://schemas.microsoft.com/office/drawing/2014/main" id="{7DD6C443-5C15-44C3-9BB1-BD8A8BD2C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41020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31406256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">
            <a:extLst xmlns:a="http://schemas.openxmlformats.org/drawingml/2006/main">
              <a:ext uri="{FF2B5EF4-FFF2-40B4-BE49-F238E27FC236}">
                <a16:creationId xmlns:a16="http://schemas.microsoft.com/office/drawing/2014/main" id="{4185252C-EEEC-4A51-B560-1FCA9366D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Find Your Path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30CF2FCD-6498-4429-A9C6-917999EE7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85800"/>
            <a:ext cx="7048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I. Bài toán đặt ra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E42D6DB5-FD6F-4FA5-ADF9-148AB65D3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43650"/>
            <a:ext cx="514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4" name="card">
            <a:extLst xmlns:a="http://schemas.openxmlformats.org/drawingml/2006/main">
              <a:ext uri="{FF2B5EF4-FFF2-40B4-BE49-F238E27FC236}">
                <a16:creationId xmlns:a16="http://schemas.microsoft.com/office/drawing/2014/main" id="{4F13F393-D912-4FE1-BD72-5BA4A8F32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66950"/>
            <a:ext cx="356870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112604DC-A70C-43F3-B839-76C52C9BD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95550"/>
            <a:ext cx="311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BÀI TOÁN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00F556B4-AE88-4872-9B5D-7316DD557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09900"/>
            <a:ext cx="3111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Lập lộ trình giao hàng đô thị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65733D27-03FB-4C5F-AD84-5AE1BB623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62400"/>
            <a:ext cx="31115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Tìm tuyến đi hợp lệ và hiệu quả cho shipper trong khu vực TP.HCM Q1, có đơn hàng, thời gian, sức chứa và đường bị chặn.</a:t>
            </a:r>
          </a:p>
        </p:txBody>
      </p:sp>
      <p:sp>
        <p:nvSpPr>
          <p:cNvPr id="8" name="card">
            <a:extLst xmlns:a="http://schemas.openxmlformats.org/drawingml/2006/main">
              <a:ext uri="{FF2B5EF4-FFF2-40B4-BE49-F238E27FC236}">
                <a16:creationId xmlns:a16="http://schemas.microsoft.com/office/drawing/2014/main" id="{FAA054FF-993D-4A2D-9E5F-998FF5771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1650" y="2266950"/>
            <a:ext cx="356870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7976C4E5-3779-44DF-8DF9-8D2B4F159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0250" y="2495550"/>
            <a:ext cx="311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ĐẦU VÀO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190AB3ED-5E25-4B7A-A8C8-74B6A9683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0250" y="3009900"/>
            <a:ext cx="3111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Graph OSM + đơn hàng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0F245585-D4D2-4B4E-9F43-936D277A1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0250" y="3962400"/>
            <a:ext cx="31115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Node/edge, thời gian di chuyển, depot, điểm giao, deadline, tải trọng, permission thuật toán và trạng thái đơn.</a:t>
            </a:r>
          </a:p>
        </p:txBody>
      </p:sp>
      <p:sp>
        <p:nvSpPr>
          <p:cNvPr id="12" name="card">
            <a:extLst xmlns:a="http://schemas.openxmlformats.org/drawingml/2006/main">
              <a:ext uri="{FF2B5EF4-FFF2-40B4-BE49-F238E27FC236}">
                <a16:creationId xmlns:a16="http://schemas.microsoft.com/office/drawing/2014/main" id="{6AA0F220-0609-4AF3-9D3B-D877154B3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8950" y="2266950"/>
            <a:ext cx="356870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8C66317E-C110-4450-AAA8-6089BF66B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7550" y="2495550"/>
            <a:ext cx="311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ĐẦU RA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706106E8-F096-4B83-B79E-C3D7F1CE3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7550" y="3009900"/>
            <a:ext cx="3111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Tuyến + giải thích</a:t>
            </a:r>
          </a:p>
        </p:txBody>
      </p: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49232358-61F2-4357-B13F-D77759395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7550" y="3962400"/>
            <a:ext cx="31115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Path, visited nodes, metrics, runtime, trace từng bước và lý do thuật toán chọn tuyến.</a:t>
            </a:r>
          </a:p>
        </p:txBody>
      </p:sp>
    </p:spTree>
    <p:extLst>
      <p:ext uri="{BB962C8B-B14F-4D97-AF65-F5344CB8AC3E}">
        <p14:creationId xmlns:p14="http://schemas.microsoft.com/office/powerpoint/2010/main" val="37056932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">
            <a:extLst xmlns:a="http://schemas.openxmlformats.org/drawingml/2006/main">
              <a:ext uri="{FF2B5EF4-FFF2-40B4-BE49-F238E27FC236}">
                <a16:creationId xmlns:a16="http://schemas.microsoft.com/office/drawing/2014/main" id="{218B89B9-68F8-43D9-A861-128F1501D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I. Bài toán đặt ra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C986DFD2-B6ED-4588-8D06-D6BCF600D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85800"/>
            <a:ext cx="7048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PEAS của bài toán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200D97D6-4C66-4059-AD37-8BBFB5903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43650"/>
            <a:ext cx="514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sp>
        <p:nvSpPr>
          <p:cNvPr id="4" name="table-header">
            <a:extLst xmlns:a="http://schemas.openxmlformats.org/drawingml/2006/main">
              <a:ext uri="{FF2B5EF4-FFF2-40B4-BE49-F238E27FC236}">
                <a16:creationId xmlns:a16="http://schemas.microsoft.com/office/drawing/2014/main" id="{2A61602D-8B44-4D93-9D48-D2BF35BA4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00250"/>
            <a:ext cx="11239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E8DEB3BF-7253-4E26-94D9-4F85B4427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666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B961FE80-8276-4122-8D04-60A8C8F6E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2095500"/>
            <a:ext cx="2286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Performance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22B583EC-1E92-4AE9-B92D-6D7454758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2095500"/>
            <a:ext cx="7715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Tổng thời gian, đúng deadline, ít vi phạm ràng buộc, runtime thấp.</a:t>
            </a:r>
          </a:p>
        </p:txBody>
      </p:sp>
      <p:sp>
        <p:nvSpPr>
          <p:cNvPr id="8" name="table-row">
            <a:extLst xmlns:a="http://schemas.openxmlformats.org/drawingml/2006/main">
              <a:ext uri="{FF2B5EF4-FFF2-40B4-BE49-F238E27FC236}">
                <a16:creationId xmlns:a16="http://schemas.microsoft.com/office/drawing/2014/main" id="{C691D4E4-2AC6-4424-ACD2-8E6C1FB3A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781300"/>
            <a:ext cx="11239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0C873211-E54F-4CDF-8C10-92317E915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76550"/>
            <a:ext cx="666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rPr>
              <a:t>E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7E2B216D-1D9A-4C71-A928-AFA42AFEF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2876550"/>
            <a:ext cx="2286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rPr>
              <a:t>Environment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4ACC1EBA-7218-4B57-85A5-53463DFA6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2876550"/>
            <a:ext cx="7715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rPr>
              <a:t>Graph đường đô thị, đơn hàng, depot, shipper, sự kiện chặn đường.</a:t>
            </a:r>
          </a:p>
        </p:txBody>
      </p:sp>
      <p:sp>
        <p:nvSpPr>
          <p:cNvPr id="12" name="table-row">
            <a:extLst xmlns:a="http://schemas.openxmlformats.org/drawingml/2006/main">
              <a:ext uri="{FF2B5EF4-FFF2-40B4-BE49-F238E27FC236}">
                <a16:creationId xmlns:a16="http://schemas.microsoft.com/office/drawing/2014/main" id="{5C48809D-D305-4E55-8DD5-F1CD21392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562350"/>
            <a:ext cx="11239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D73A5506-F822-469F-ACBB-EBA5E7C35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57600"/>
            <a:ext cx="666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rPr>
              <a:t>A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66A5242E-2DC8-452C-A2BA-77A9A32B6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3657600"/>
            <a:ext cx="2286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rPr>
              <a:t>Actuators</a:t>
            </a:r>
          </a:p>
        </p:txBody>
      </p: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DEEE3F46-7E03-4315-BF2D-F2B416A33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3657600"/>
            <a:ext cx="7715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rPr>
              <a:t>Chọn node kế tiếp, nhận/tối ưu đơn, tái lập kế hoạch khi môi trường đổi.</a:t>
            </a:r>
          </a:p>
        </p:txBody>
      </p:sp>
      <p:sp>
        <p:nvSpPr>
          <p:cNvPr id="16" name="table-row">
            <a:extLst xmlns:a="http://schemas.openxmlformats.org/drawingml/2006/main">
              <a:ext uri="{FF2B5EF4-FFF2-40B4-BE49-F238E27FC236}">
                <a16:creationId xmlns:a16="http://schemas.microsoft.com/office/drawing/2014/main" id="{64BE875F-54EA-436C-8B37-38B79B1DB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343400"/>
            <a:ext cx="11239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287F6BC6-F0F6-49B4-BFA1-0C122729E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38650"/>
            <a:ext cx="666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rPr>
              <a:t>S</a:t>
            </a:r>
          </a:p>
        </p:txBody>
      </p: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64B8F072-13AE-41FC-A242-ABD56F0FA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438650"/>
            <a:ext cx="2286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rPr>
              <a:t>Sensors</a:t>
            </a:r>
          </a:p>
        </p:txBody>
      </p:sp>
      <p:sp>
        <p:nvSpPr>
          <p:cNvPr id="19" name="text">
            <a:extLst xmlns:a="http://schemas.openxmlformats.org/drawingml/2006/main">
              <a:ext uri="{FF2B5EF4-FFF2-40B4-BE49-F238E27FC236}">
                <a16:creationId xmlns:a16="http://schemas.microsoft.com/office/drawing/2014/main" id="{CB38C629-759D-4DC7-8A4C-89CFFDDF7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4438650"/>
            <a:ext cx="7715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rPr>
              <a:t>Trạng thái graph, vị trí hiện tại, đơn còn lại, deadline, tải trọng, edge quan sát được.</a:t>
            </a:r>
          </a:p>
        </p:txBody>
      </p:sp>
    </p:spTree>
    <p:extLst>
      <p:ext uri="{BB962C8B-B14F-4D97-AF65-F5344CB8AC3E}">
        <p14:creationId xmlns:p14="http://schemas.microsoft.com/office/powerpoint/2010/main" val="77820209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">
            <a:extLst xmlns:a="http://schemas.openxmlformats.org/drawingml/2006/main">
              <a:ext uri="{FF2B5EF4-FFF2-40B4-BE49-F238E27FC236}">
                <a16:creationId xmlns:a16="http://schemas.microsoft.com/office/drawing/2014/main" id="{2F2F40DD-92CC-4DCF-9AF9-B679D947C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Find Your Path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96D7752B-3BC9-47DD-B5A6-56E98D888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85800"/>
            <a:ext cx="7048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II. Thuật toán áp dụng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6756DC03-5807-4D23-A412-1B225531C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43650"/>
            <a:ext cx="514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05</a:t>
            </a:r>
          </a:p>
        </p:txBody>
      </p:sp>
      <p:sp>
        <p:nvSpPr>
          <p:cNvPr id="4" name="table-header">
            <a:extLst xmlns:a="http://schemas.openxmlformats.org/drawingml/2006/main">
              <a:ext uri="{FF2B5EF4-FFF2-40B4-BE49-F238E27FC236}">
                <a16:creationId xmlns:a16="http://schemas.microsoft.com/office/drawing/2014/main" id="{60BFE2C0-5ECD-400E-8F6B-3345C8176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11239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E9AA3EEA-38A1-4ADD-B6ED-6C31AE98C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1809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Nhóm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AEBD5F34-B98D-4F0B-B844-B138F510A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1847850"/>
            <a:ext cx="2571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Đại diện trình bày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78AEF5C9-E7CA-44DD-9A90-E49CE5CFD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1847850"/>
            <a:ext cx="6286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Vai trò trong Find Your Path</a:t>
            </a:r>
          </a:p>
        </p:txBody>
      </p:sp>
      <p:sp>
        <p:nvSpPr>
          <p:cNvPr id="8" name="table-row">
            <a:extLst xmlns:a="http://schemas.openxmlformats.org/drawingml/2006/main">
              <a:ext uri="{FF2B5EF4-FFF2-40B4-BE49-F238E27FC236}">
                <a16:creationId xmlns:a16="http://schemas.microsoft.com/office/drawing/2014/main" id="{C401B9D6-66F6-4F73-8D98-CE702ACB9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05050"/>
            <a:ext cx="11239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CDB3F04B-1689-4895-8408-79D28E967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00300"/>
            <a:ext cx="1809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rPr>
              <a:t>1. Uninformed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5608C87E-E827-438B-80F2-236AB008B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400300"/>
            <a:ext cx="2571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rPr>
              <a:t>BFS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9DD54A8E-7206-4E88-A8CF-3DABF23DE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2400300"/>
            <a:ext cx="6286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rPr>
              <a:t>Baseline tìm đường khi chưa dùng heuristic.</a:t>
            </a:r>
          </a:p>
        </p:txBody>
      </p:sp>
      <p:sp>
        <p:nvSpPr>
          <p:cNvPr id="12" name="table-row">
            <a:extLst xmlns:a="http://schemas.openxmlformats.org/drawingml/2006/main">
              <a:ext uri="{FF2B5EF4-FFF2-40B4-BE49-F238E27FC236}">
                <a16:creationId xmlns:a16="http://schemas.microsoft.com/office/drawing/2014/main" id="{5AC4B9AF-1043-4971-90F0-B08EF99BA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0"/>
            <a:ext cx="11239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67C7924E-A0DB-4D04-9FF2-AFD5342EC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0"/>
            <a:ext cx="1809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rPr>
              <a:t>2. Informed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B8EF37D3-49EB-48ED-8E4D-D4E8DFD73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952750"/>
            <a:ext cx="2571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rPr>
              <a:t>A*</a:t>
            </a:r>
          </a:p>
        </p:txBody>
      </p: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4C52C3AF-3512-493C-A296-9232D33AA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2952750"/>
            <a:ext cx="6286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rPr>
              <a:t>Tìm tuyến nhanh hơn bằng heuristic khoảng cách.</a:t>
            </a:r>
          </a:p>
        </p:txBody>
      </p:sp>
      <p:sp>
        <p:nvSpPr>
          <p:cNvPr id="16" name="table-row">
            <a:extLst xmlns:a="http://schemas.openxmlformats.org/drawingml/2006/main">
              <a:ext uri="{FF2B5EF4-FFF2-40B4-BE49-F238E27FC236}">
                <a16:creationId xmlns:a16="http://schemas.microsoft.com/office/drawing/2014/main" id="{49EA4B46-AE19-40EA-BD37-8421E0B6F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09950"/>
            <a:ext cx="11239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48DB5FFA-49C7-4B46-93B9-64D0A80AE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05200"/>
            <a:ext cx="1809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rPr>
              <a:t>3. Local Search</a:t>
            </a:r>
          </a:p>
        </p:txBody>
      </p: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3E905FC0-1C62-4DD4-B53F-9763C7C6F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505200"/>
            <a:ext cx="2571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rPr>
              <a:t>Hill Climbing</a:t>
            </a:r>
          </a:p>
        </p:txBody>
      </p:sp>
      <p:sp>
        <p:nvSpPr>
          <p:cNvPr id="19" name="text">
            <a:extLst xmlns:a="http://schemas.openxmlformats.org/drawingml/2006/main">
              <a:ext uri="{FF2B5EF4-FFF2-40B4-BE49-F238E27FC236}">
                <a16:creationId xmlns:a16="http://schemas.microsoft.com/office/drawing/2014/main" id="{E41DCD08-EDE7-4A1B-9D3D-7283D6DCB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3505200"/>
            <a:ext cx="6286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rPr>
              <a:t>Cải thiện thứ tự giao hàng từ tuyến ban đầu.</a:t>
            </a:r>
          </a:p>
        </p:txBody>
      </p:sp>
      <p:sp>
        <p:nvSpPr>
          <p:cNvPr id="20" name="table-row">
            <a:extLst xmlns:a="http://schemas.openxmlformats.org/drawingml/2006/main">
              <a:ext uri="{FF2B5EF4-FFF2-40B4-BE49-F238E27FC236}">
                <a16:creationId xmlns:a16="http://schemas.microsoft.com/office/drawing/2014/main" id="{56774D08-71D9-42E6-8E0D-8D1FFCC5A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62400"/>
            <a:ext cx="11239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1" name="text">
            <a:extLst xmlns:a="http://schemas.openxmlformats.org/drawingml/2006/main">
              <a:ext uri="{FF2B5EF4-FFF2-40B4-BE49-F238E27FC236}">
                <a16:creationId xmlns:a16="http://schemas.microsoft.com/office/drawing/2014/main" id="{152267AE-4557-4BF3-B970-D96FD6211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57650"/>
            <a:ext cx="1809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rPr>
              <a:t>4. Complex Env.</a:t>
            </a:r>
          </a:p>
        </p:txBody>
      </p:sp>
      <p:sp>
        <p:nvSpPr>
          <p:cNvPr id="22" name="text">
            <a:extLst xmlns:a="http://schemas.openxmlformats.org/drawingml/2006/main">
              <a:ext uri="{FF2B5EF4-FFF2-40B4-BE49-F238E27FC236}">
                <a16:creationId xmlns:a16="http://schemas.microsoft.com/office/drawing/2014/main" id="{5A35AE9F-7531-4C86-8AE8-1FA9BF2CD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057650"/>
            <a:ext cx="2571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rPr>
              <a:t>Online Replanning</a:t>
            </a:r>
          </a:p>
        </p:txBody>
      </p:sp>
      <p:sp>
        <p:nvSpPr>
          <p:cNvPr id="23" name="text">
            <a:extLst xmlns:a="http://schemas.openxmlformats.org/drawingml/2006/main">
              <a:ext uri="{FF2B5EF4-FFF2-40B4-BE49-F238E27FC236}">
                <a16:creationId xmlns:a16="http://schemas.microsoft.com/office/drawing/2014/main" id="{2448C76D-49D8-4843-8145-8A173C8F8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4057650"/>
            <a:ext cx="6286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rPr>
              <a:t>Đổi tuyến khi gặp đường bị chặn/sự kiện động.</a:t>
            </a:r>
          </a:p>
        </p:txBody>
      </p:sp>
      <p:sp>
        <p:nvSpPr>
          <p:cNvPr id="24" name="table-row">
            <a:extLst xmlns:a="http://schemas.openxmlformats.org/drawingml/2006/main">
              <a:ext uri="{FF2B5EF4-FFF2-40B4-BE49-F238E27FC236}">
                <a16:creationId xmlns:a16="http://schemas.microsoft.com/office/drawing/2014/main" id="{D35C9228-6C5D-4493-B68B-577D2E5D2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14850"/>
            <a:ext cx="11239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5" name="text">
            <a:extLst xmlns:a="http://schemas.openxmlformats.org/drawingml/2006/main">
              <a:ext uri="{FF2B5EF4-FFF2-40B4-BE49-F238E27FC236}">
                <a16:creationId xmlns:a16="http://schemas.microsoft.com/office/drawing/2014/main" id="{CA960C07-CE40-408F-AC4A-58FD80C7E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10100"/>
            <a:ext cx="1809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rPr>
              <a:t>5. CSP</a:t>
            </a:r>
          </a:p>
        </p:txBody>
      </p:sp>
      <p:sp>
        <p:nvSpPr>
          <p:cNvPr id="26" name="text">
            <a:extLst xmlns:a="http://schemas.openxmlformats.org/drawingml/2006/main">
              <a:ext uri="{FF2B5EF4-FFF2-40B4-BE49-F238E27FC236}">
                <a16:creationId xmlns:a16="http://schemas.microsoft.com/office/drawing/2014/main" id="{4004CBE1-2C03-4671-861F-2DF3D8012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610100"/>
            <a:ext cx="2571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rPr>
              <a:t>Forward Checking</a:t>
            </a:r>
          </a:p>
        </p:txBody>
      </p:sp>
      <p:sp>
        <p:nvSpPr>
          <p:cNvPr id="27" name="text">
            <a:extLst xmlns:a="http://schemas.openxmlformats.org/drawingml/2006/main">
              <a:ext uri="{FF2B5EF4-FFF2-40B4-BE49-F238E27FC236}">
                <a16:creationId xmlns:a16="http://schemas.microsoft.com/office/drawing/2014/main" id="{1DC152CF-502F-4523-B375-4F32EF496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4610100"/>
            <a:ext cx="6286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rPr>
              <a:t>Kiểm tra khả thi theo capacity, deadline, blocked road.</a:t>
            </a:r>
          </a:p>
        </p:txBody>
      </p:sp>
      <p:sp>
        <p:nvSpPr>
          <p:cNvPr id="28" name="table-row">
            <a:extLst xmlns:a="http://schemas.openxmlformats.org/drawingml/2006/main">
              <a:ext uri="{FF2B5EF4-FFF2-40B4-BE49-F238E27FC236}">
                <a16:creationId xmlns:a16="http://schemas.microsoft.com/office/drawing/2014/main" id="{E2CBB33E-10F5-4D68-B4F1-152C027BA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067300"/>
            <a:ext cx="11239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9" name="text">
            <a:extLst xmlns:a="http://schemas.openxmlformats.org/drawingml/2006/main">
              <a:ext uri="{FF2B5EF4-FFF2-40B4-BE49-F238E27FC236}">
                <a16:creationId xmlns:a16="http://schemas.microsoft.com/office/drawing/2014/main" id="{DA23C576-7F72-4BA3-A2AB-CE9F247B9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62550"/>
            <a:ext cx="1809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rPr>
              <a:t>6. Adversarial</a:t>
            </a:r>
          </a:p>
        </p:txBody>
      </p:sp>
      <p:sp>
        <p:nvSpPr>
          <p:cNvPr id="30" name="text">
            <a:extLst xmlns:a="http://schemas.openxmlformats.org/drawingml/2006/main">
              <a:ext uri="{FF2B5EF4-FFF2-40B4-BE49-F238E27FC236}">
                <a16:creationId xmlns:a16="http://schemas.microsoft.com/office/drawing/2014/main" id="{DE3D4A60-5807-4689-89E9-CDE4172A1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5162550"/>
            <a:ext cx="2571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rPr>
              <a:t>Alpha-Beta</a:t>
            </a:r>
          </a:p>
        </p:txBody>
      </p:sp>
      <p:sp>
        <p:nvSpPr>
          <p:cNvPr id="31" name="text">
            <a:extLst xmlns:a="http://schemas.openxmlformats.org/drawingml/2006/main">
              <a:ext uri="{FF2B5EF4-FFF2-40B4-BE49-F238E27FC236}">
                <a16:creationId xmlns:a16="http://schemas.microsoft.com/office/drawing/2014/main" id="{2DDD8C26-6155-4DFF-A761-328F8E72C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5162550"/>
            <a:ext cx="6286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rPr>
              <a:t>Ra quyết định khi có yếu tố đối kháng/chi phí thay đổi.</a:t>
            </a:r>
          </a:p>
        </p:txBody>
      </p:sp>
    </p:spTree>
    <p:extLst>
      <p:ext uri="{BB962C8B-B14F-4D97-AF65-F5344CB8AC3E}">
        <p14:creationId xmlns:p14="http://schemas.microsoft.com/office/powerpoint/2010/main" val="173841247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">
            <a:extLst xmlns:a="http://schemas.openxmlformats.org/drawingml/2006/main">
              <a:ext uri="{FF2B5EF4-FFF2-40B4-BE49-F238E27FC236}">
                <a16:creationId xmlns:a16="http://schemas.microsoft.com/office/drawing/2014/main" id="{EC1B66D8-4DC5-4D9F-9739-A34C45F9C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II. Thuật toán áp dụng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7C3EB9C6-F95B-46A0-93B4-E334F7F08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85800"/>
            <a:ext cx="7048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Ví dụ trình bày chi tiết: A*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B511A1C0-F150-4304-B234-7B422C540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43650"/>
            <a:ext cx="514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06</a:t>
            </a:r>
          </a:p>
        </p:txBody>
      </p:sp>
      <p:sp>
        <p:nvSpPr>
          <p:cNvPr id="4" name="state-panel">
            <a:extLst xmlns:a="http://schemas.openxmlformats.org/drawingml/2006/main">
              <a:ext uri="{FF2B5EF4-FFF2-40B4-BE49-F238E27FC236}">
                <a16:creationId xmlns:a16="http://schemas.microsoft.com/office/drawing/2014/main" id="{A5F8484A-A75A-4388-925D-20662861B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47850"/>
            <a:ext cx="3524250" cy="3581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F4A2889E-61BB-4AF8-8B86-E91E46DB5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14550"/>
            <a:ext cx="2971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Trạng thái bắt đầu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62F4F02C-74E9-4FB5-BE53-38FDABB8F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71750"/>
            <a:ext cx="29146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Shipper ở node xuất phát, ví dụ D0; graph đã có travel time và heuristic.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340C2385-D45C-4634-9A38-9EF48E355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71900"/>
            <a:ext cx="2971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Trạng thái mục tiêu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BC45B603-4A4B-4E31-AB74-5B73C78A0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29100"/>
            <a:ext cx="29146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Tới điểm giao hoặc hoàn tất tập đơn, không vi phạm ràng buộc chính.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991F6FCC-F28C-4504-A35C-154D16AD3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885950"/>
            <a:ext cx="495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Các bước tìm solution</a:t>
            </a:r>
          </a:p>
        </p:txBody>
      </p:sp>
      <p:sp>
        <p:nvSpPr>
          <p:cNvPr id="10" name="dot">
            <a:extLst xmlns:a="http://schemas.openxmlformats.org/drawingml/2006/main">
              <a:ext uri="{FF2B5EF4-FFF2-40B4-BE49-F238E27FC236}">
                <a16:creationId xmlns:a16="http://schemas.microsoft.com/office/drawing/2014/main" id="{998A8F77-213D-405C-9227-C35716553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5717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641CA1AB-43FB-463D-B929-928B24987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2495550"/>
            <a:ext cx="60579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Khởi tạo open set với node bắt đầu.</a:t>
            </a:r>
          </a:p>
        </p:txBody>
      </p:sp>
      <p:sp>
        <p:nvSpPr>
          <p:cNvPr id="12" name="dot">
            <a:extLst xmlns:a="http://schemas.openxmlformats.org/drawingml/2006/main">
              <a:ext uri="{FF2B5EF4-FFF2-40B4-BE49-F238E27FC236}">
                <a16:creationId xmlns:a16="http://schemas.microsoft.com/office/drawing/2014/main" id="{7D57D936-3499-4D24-9A73-25CF4EADD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0480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4EF06276-9A07-41BC-B000-C7FD6FD5A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2971800"/>
            <a:ext cx="60579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Tính f(n) = g(n) + h(n) cho ứng viên.</a:t>
            </a:r>
          </a:p>
        </p:txBody>
      </p:sp>
      <p:sp>
        <p:nvSpPr>
          <p:cNvPr id="14" name="dot">
            <a:extLst xmlns:a="http://schemas.openxmlformats.org/drawingml/2006/main">
              <a:ext uri="{FF2B5EF4-FFF2-40B4-BE49-F238E27FC236}">
                <a16:creationId xmlns:a16="http://schemas.microsoft.com/office/drawing/2014/main" id="{E311C923-9B1F-4495-BED3-28859ED58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5242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C767212E-A329-4B1C-991F-3C18CBADD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3448050"/>
            <a:ext cx="60579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Mở rộng node có f nhỏ nhất.</a:t>
            </a:r>
          </a:p>
        </p:txBody>
      </p:sp>
      <p:sp>
        <p:nvSpPr>
          <p:cNvPr id="16" name="dot">
            <a:extLst xmlns:a="http://schemas.openxmlformats.org/drawingml/2006/main">
              <a:ext uri="{FF2B5EF4-FFF2-40B4-BE49-F238E27FC236}">
                <a16:creationId xmlns:a16="http://schemas.microsoft.com/office/drawing/2014/main" id="{A4773119-9361-48BC-8A41-224EC24A4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0005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2E31DBD9-6A2A-4027-A5E4-96137BB7A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3924300"/>
            <a:ext cx="60579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Cập nhật parentMap và previewPath trong trace.</a:t>
            </a:r>
          </a:p>
        </p:txBody>
      </p:sp>
      <p:sp>
        <p:nvSpPr>
          <p:cNvPr id="18" name="dot">
            <a:extLst xmlns:a="http://schemas.openxmlformats.org/drawingml/2006/main">
              <a:ext uri="{FF2B5EF4-FFF2-40B4-BE49-F238E27FC236}">
                <a16:creationId xmlns:a16="http://schemas.microsoft.com/office/drawing/2014/main" id="{F17793CE-F39F-4F7F-86FC-8CF8C3535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4767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text">
            <a:extLst xmlns:a="http://schemas.openxmlformats.org/drawingml/2006/main">
              <a:ext uri="{FF2B5EF4-FFF2-40B4-BE49-F238E27FC236}">
                <a16:creationId xmlns:a16="http://schemas.microsoft.com/office/drawing/2014/main" id="{493E8136-4FE4-460D-9657-3B200194E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4400550"/>
            <a:ext cx="60579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Dừng khi lấy được goal; dựng lại path và metrics.</a:t>
            </a:r>
          </a:p>
        </p:txBody>
      </p:sp>
    </p:spTree>
    <p:extLst>
      <p:ext uri="{BB962C8B-B14F-4D97-AF65-F5344CB8AC3E}">
        <p14:creationId xmlns:p14="http://schemas.microsoft.com/office/powerpoint/2010/main" val="57865442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">
            <a:extLst xmlns:a="http://schemas.openxmlformats.org/drawingml/2006/main">
              <a:ext uri="{FF2B5EF4-FFF2-40B4-BE49-F238E27FC236}">
                <a16:creationId xmlns:a16="http://schemas.microsoft.com/office/drawing/2014/main" id="{E0EEF237-6F08-4DFF-9F55-D92673E3A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Find Your Path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52258E5B-0AFB-455E-B1EE-9B709ACD1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85800"/>
            <a:ext cx="7048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III. Thực nghiệm và kết quả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00607CBF-EB91-420E-A6F2-FAADA908D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43650"/>
            <a:ext cx="514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07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B6E02F68-DD98-4DD9-9062-B566EEA7E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Môi trường kiểm thử</a:t>
            </a:r>
          </a:p>
        </p:txBody>
      </p:sp>
      <p:sp>
        <p:nvSpPr>
          <p:cNvPr id="5" name="dot">
            <a:extLst xmlns:a="http://schemas.openxmlformats.org/drawingml/2006/main">
              <a:ext uri="{FF2B5EF4-FFF2-40B4-BE49-F238E27FC236}">
                <a16:creationId xmlns:a16="http://schemas.microsoft.com/office/drawing/2014/main" id="{A1BA324D-031D-4559-AE09-06437A5A7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812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1A5A3D97-9615-4690-9E91-0FE702E62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05050"/>
            <a:ext cx="5486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Backend FastAPI, schema response có path, visitedNodes, metrics, runtimeMs, traceSteps.</a:t>
            </a:r>
          </a:p>
        </p:txBody>
      </p:sp>
      <p:sp>
        <p:nvSpPr>
          <p:cNvPr id="7" name="dot">
            <a:extLst xmlns:a="http://schemas.openxmlformats.org/drawingml/2006/main">
              <a:ext uri="{FF2B5EF4-FFF2-40B4-BE49-F238E27FC236}">
                <a16:creationId xmlns:a16="http://schemas.microsoft.com/office/drawing/2014/main" id="{A3E0B767-428A-4FA4-AA92-7FA446D9B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9337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A81E4647-2B04-491A-9075-8B97A800B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57500"/>
            <a:ext cx="5486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Test tự động xác minh BFS/DFS/UCS/A*, CSP, local search, online replanning và alpha-beta.</a:t>
            </a:r>
          </a:p>
        </p:txBody>
      </p:sp>
      <p:sp>
        <p:nvSpPr>
          <p:cNvPr id="9" name="dot">
            <a:extLst xmlns:a="http://schemas.openxmlformats.org/drawingml/2006/main">
              <a:ext uri="{FF2B5EF4-FFF2-40B4-BE49-F238E27FC236}">
                <a16:creationId xmlns:a16="http://schemas.microsoft.com/office/drawing/2014/main" id="{37874453-8A63-4A4F-92B2-382AD4657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861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3F0A5F33-CB16-4473-889D-762379E28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09950"/>
            <a:ext cx="5486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Demo UI nên show animation/trace cho A*, Online Replanning và Alpha-Beta.</a:t>
            </a:r>
          </a:p>
        </p:txBody>
      </p:sp>
      <p:graphicFrame>
        <p:nvGraphicFramePr>
          <p:cNvPr id="23" name="Chart"/>
          <p:cNvGraphicFramePr/>
          <p:nvPr/>
        </p:nvGraphicFramePr>
        <p:xfrm>
          <a:off xmlns:a="http://schemas.openxmlformats.org/drawingml/2006/main" x="6953250" y="1809750"/>
          <a:ext xmlns:a="http://schemas.openxmlformats.org/drawingml/2006/main" cx="4286250" cy="3143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87dced6148948cd"/>
          </a:graphicData>
        </a:graphic>
      </p:graphicFrame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AC2D4229-F1F7-4171-9F61-A0393669A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5219700"/>
            <a:ext cx="4191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Minh họa từ test: A* cho tuyến D0-C-D-E với total_minutes &lt;= 15.8.</a:t>
            </a:r>
          </a:p>
        </p:txBody>
      </p:sp>
    </p:spTree>
    <p:extLst>
      <p:ext uri="{BB962C8B-B14F-4D97-AF65-F5344CB8AC3E}">
        <p14:creationId xmlns:p14="http://schemas.microsoft.com/office/powerpoint/2010/main" val="19569398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">
            <a:extLst xmlns:a="http://schemas.openxmlformats.org/drawingml/2006/main">
              <a:ext uri="{FF2B5EF4-FFF2-40B4-BE49-F238E27FC236}">
                <a16:creationId xmlns:a16="http://schemas.microsoft.com/office/drawing/2014/main" id="{45050E00-25D3-482C-BC48-A59BBA25B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III. Thực nghiệm và kết quả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46A48E0B-44F7-4290-B992-4A8FEC6C9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85800"/>
            <a:ext cx="7048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Kết quả theo 6 nhóm thuật toán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FC1E51A0-9966-4D33-9274-DD4EB5517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43650"/>
            <a:ext cx="514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08</a:t>
            </a:r>
          </a:p>
        </p:txBody>
      </p:sp>
      <p:sp>
        <p:nvSpPr>
          <p:cNvPr id="4" name="table-header">
            <a:extLst xmlns:a="http://schemas.openxmlformats.org/drawingml/2006/main">
              <a:ext uri="{FF2B5EF4-FFF2-40B4-BE49-F238E27FC236}">
                <a16:creationId xmlns:a16="http://schemas.microsoft.com/office/drawing/2014/main" id="{63F48C2B-1492-48D0-B4B1-5C32E0BC8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57350"/>
            <a:ext cx="11239500" cy="581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1A6A85C5-FD03-4E17-A644-B9C6893F2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17145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Nhóm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DDDB9D50-DF9A-4D0B-858D-A7627FA9B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1752600"/>
            <a:ext cx="39052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Kết quả kiểm chứng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A63E18F0-AC0E-4F6E-946E-DFFBF7BCC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752600"/>
            <a:ext cx="50482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Ý nghĩa</a:t>
            </a:r>
          </a:p>
        </p:txBody>
      </p:sp>
      <p:sp>
        <p:nvSpPr>
          <p:cNvPr id="8" name="table-row">
            <a:extLst xmlns:a="http://schemas.openxmlformats.org/drawingml/2006/main">
              <a:ext uri="{FF2B5EF4-FFF2-40B4-BE49-F238E27FC236}">
                <a16:creationId xmlns:a16="http://schemas.microsoft.com/office/drawing/2014/main" id="{486B5B83-6580-4521-B56B-0B711CF52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38375"/>
            <a:ext cx="11239500" cy="581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17031F3E-F12F-43FC-B34A-7F2A4ADB5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33625"/>
            <a:ext cx="17145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rPr>
              <a:t>BFS/DFS/UCS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D215B8B8-5290-49B9-B0B8-6BAAEB070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333625"/>
            <a:ext cx="39052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rPr>
              <a:t>Trả path hợp lệ; UCS tốt hơn BFS theo cost ví dụ.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AB77B907-B2D9-4D30-A505-CFDC7D0F4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333625"/>
            <a:ext cx="50482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rPr>
              <a:t>Có baseline và so sánh cost.</a:t>
            </a:r>
          </a:p>
        </p:txBody>
      </p:sp>
      <p:sp>
        <p:nvSpPr>
          <p:cNvPr id="12" name="table-row">
            <a:extLst xmlns:a="http://schemas.openxmlformats.org/drawingml/2006/main">
              <a:ext uri="{FF2B5EF4-FFF2-40B4-BE49-F238E27FC236}">
                <a16:creationId xmlns:a16="http://schemas.microsoft.com/office/drawing/2014/main" id="{717146DC-E556-4E63-B3F3-A9A195FBB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19400"/>
            <a:ext cx="11239500" cy="581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386209B4-7382-4693-935B-CFE156190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17145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rPr>
              <a:t>A*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AC5BE5CF-FD25-4D49-B1E4-ECA912B40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914650"/>
            <a:ext cx="39052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rPr>
              <a:t>Path D0-C-D-E; total_minutes &lt;= 15.8.</a:t>
            </a:r>
          </a:p>
        </p:txBody>
      </p: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759690D1-E994-4393-AE10-4984B638B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914650"/>
            <a:ext cx="50482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rPr>
              <a:t>Heuristic giúp rút ngắn tìm kiếm.</a:t>
            </a:r>
          </a:p>
        </p:txBody>
      </p:sp>
      <p:sp>
        <p:nvSpPr>
          <p:cNvPr id="16" name="table-row">
            <a:extLst xmlns:a="http://schemas.openxmlformats.org/drawingml/2006/main">
              <a:ext uri="{FF2B5EF4-FFF2-40B4-BE49-F238E27FC236}">
                <a16:creationId xmlns:a16="http://schemas.microsoft.com/office/drawing/2014/main" id="{639D7080-030B-4241-99D3-062229B56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00425"/>
            <a:ext cx="11239500" cy="581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8BFBCA33-09B4-4A0C-BC56-262D10DA0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95675"/>
            <a:ext cx="17145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rPr>
              <a:t>Hill Climbing</a:t>
            </a:r>
          </a:p>
        </p:txBody>
      </p: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3636A822-5670-43CD-B652-580EEF5E3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495675"/>
            <a:ext cx="39052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rPr>
              <a:t>Không làm tệ hơn tuyến ban đầu trong test seed.</a:t>
            </a:r>
          </a:p>
        </p:txBody>
      </p:sp>
      <p:sp>
        <p:nvSpPr>
          <p:cNvPr id="19" name="text">
            <a:extLst xmlns:a="http://schemas.openxmlformats.org/drawingml/2006/main">
              <a:ext uri="{FF2B5EF4-FFF2-40B4-BE49-F238E27FC236}">
                <a16:creationId xmlns:a16="http://schemas.microsoft.com/office/drawing/2014/main" id="{1F9576BA-5E71-404F-B6D6-A853E3D3B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495675"/>
            <a:ext cx="50482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rPr>
              <a:t>Phù hợp tối ưu cục bộ.</a:t>
            </a:r>
          </a:p>
        </p:txBody>
      </p:sp>
      <p:sp>
        <p:nvSpPr>
          <p:cNvPr id="20" name="table-row">
            <a:extLst xmlns:a="http://schemas.openxmlformats.org/drawingml/2006/main">
              <a:ext uri="{FF2B5EF4-FFF2-40B4-BE49-F238E27FC236}">
                <a16:creationId xmlns:a16="http://schemas.microsoft.com/office/drawing/2014/main" id="{56CF94FC-265F-4553-BAC4-92B9E776B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81450"/>
            <a:ext cx="11239500" cy="581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1" name="text">
            <a:extLst xmlns:a="http://schemas.openxmlformats.org/drawingml/2006/main">
              <a:ext uri="{FF2B5EF4-FFF2-40B4-BE49-F238E27FC236}">
                <a16:creationId xmlns:a16="http://schemas.microsoft.com/office/drawing/2014/main" id="{7E52648F-882F-42C5-9816-57A14ECC1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76700"/>
            <a:ext cx="17145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rPr>
              <a:t>Online Replan</a:t>
            </a:r>
          </a:p>
        </p:txBody>
      </p:sp>
      <p:sp>
        <p:nvSpPr>
          <p:cNvPr id="22" name="text">
            <a:extLst xmlns:a="http://schemas.openxmlformats.org/drawingml/2006/main">
              <a:ext uri="{FF2B5EF4-FFF2-40B4-BE49-F238E27FC236}">
                <a16:creationId xmlns:a16="http://schemas.microsoft.com/office/drawing/2014/main" id="{E20C7E69-A5A8-48EF-A0CC-3EA5B6079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076700"/>
            <a:ext cx="39052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rPr>
              <a:t>initialPath khác finalPath, replans &gt; 1.</a:t>
            </a:r>
          </a:p>
        </p:txBody>
      </p:sp>
      <p:sp>
        <p:nvSpPr>
          <p:cNvPr id="23" name="text">
            <a:extLst xmlns:a="http://schemas.openxmlformats.org/drawingml/2006/main">
              <a:ext uri="{FF2B5EF4-FFF2-40B4-BE49-F238E27FC236}">
                <a16:creationId xmlns:a16="http://schemas.microsoft.com/office/drawing/2014/main" id="{0CCD0F42-FC4F-419A-AA67-2F8B1146F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076700"/>
            <a:ext cx="50482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rPr>
              <a:t>Xử lý môi trường động.</a:t>
            </a:r>
          </a:p>
        </p:txBody>
      </p:sp>
      <p:sp>
        <p:nvSpPr>
          <p:cNvPr id="24" name="table-row">
            <a:extLst xmlns:a="http://schemas.openxmlformats.org/drawingml/2006/main">
              <a:ext uri="{FF2B5EF4-FFF2-40B4-BE49-F238E27FC236}">
                <a16:creationId xmlns:a16="http://schemas.microsoft.com/office/drawing/2014/main" id="{B66D3322-B54B-4788-9358-B369F8EED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62475"/>
            <a:ext cx="11239500" cy="581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5" name="text">
            <a:extLst xmlns:a="http://schemas.openxmlformats.org/drawingml/2006/main">
              <a:ext uri="{FF2B5EF4-FFF2-40B4-BE49-F238E27FC236}">
                <a16:creationId xmlns:a16="http://schemas.microsoft.com/office/drawing/2014/main" id="{11080F6A-3601-439E-94CE-7305BB787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57725"/>
            <a:ext cx="17145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rPr>
              <a:t>CSP</a:t>
            </a:r>
          </a:p>
        </p:txBody>
      </p:sp>
      <p:sp>
        <p:nvSpPr>
          <p:cNvPr id="26" name="text">
            <a:extLst xmlns:a="http://schemas.openxmlformats.org/drawingml/2006/main">
              <a:ext uri="{FF2B5EF4-FFF2-40B4-BE49-F238E27FC236}">
                <a16:creationId xmlns:a16="http://schemas.microsoft.com/office/drawing/2014/main" id="{26DC9524-993D-4091-8D39-BA627DC35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657725"/>
            <a:ext cx="39052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rPr>
              <a:t>Forward checking phát hiện infeasible.</a:t>
            </a:r>
          </a:p>
        </p:txBody>
      </p:sp>
      <p:sp>
        <p:nvSpPr>
          <p:cNvPr id="27" name="text">
            <a:extLst xmlns:a="http://schemas.openxmlformats.org/drawingml/2006/main">
              <a:ext uri="{FF2B5EF4-FFF2-40B4-BE49-F238E27FC236}">
                <a16:creationId xmlns:a16="http://schemas.microsoft.com/office/drawing/2014/main" id="{60A1A935-8D5B-4F8D-907D-101A5FDA3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657725"/>
            <a:ext cx="50482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rPr>
              <a:t>Chặn phương án vi phạm sớm.</a:t>
            </a:r>
          </a:p>
        </p:txBody>
      </p:sp>
      <p:sp>
        <p:nvSpPr>
          <p:cNvPr id="28" name="table-row">
            <a:extLst xmlns:a="http://schemas.openxmlformats.org/drawingml/2006/main">
              <a:ext uri="{FF2B5EF4-FFF2-40B4-BE49-F238E27FC236}">
                <a16:creationId xmlns:a16="http://schemas.microsoft.com/office/drawing/2014/main" id="{C1A21550-6890-4138-8EB9-73D4916D4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43500"/>
            <a:ext cx="11239500" cy="581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9" name="text">
            <a:extLst xmlns:a="http://schemas.openxmlformats.org/drawingml/2006/main">
              <a:ext uri="{FF2B5EF4-FFF2-40B4-BE49-F238E27FC236}">
                <a16:creationId xmlns:a16="http://schemas.microsoft.com/office/drawing/2014/main" id="{54C22D46-9D16-41AD-BD72-DEC823D22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38750"/>
            <a:ext cx="17145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rPr>
              <a:t>Alpha-Beta</a:t>
            </a:r>
          </a:p>
        </p:txBody>
      </p:sp>
      <p:sp>
        <p:nvSpPr>
          <p:cNvPr id="30" name="text">
            <a:extLst xmlns:a="http://schemas.openxmlformats.org/drawingml/2006/main">
              <a:ext uri="{FF2B5EF4-FFF2-40B4-BE49-F238E27FC236}">
                <a16:creationId xmlns:a16="http://schemas.microsoft.com/office/drawing/2014/main" id="{0E7F3381-2523-4A79-8B63-4F5E39AAC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5238750"/>
            <a:ext cx="39052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rPr>
              <a:t>Cùng gameValue với minimax, ít expandedNodes hơn.</a:t>
            </a:r>
          </a:p>
        </p:txBody>
      </p:sp>
      <p:sp>
        <p:nvSpPr>
          <p:cNvPr id="31" name="text">
            <a:extLst xmlns:a="http://schemas.openxmlformats.org/drawingml/2006/main">
              <a:ext uri="{FF2B5EF4-FFF2-40B4-BE49-F238E27FC236}">
                <a16:creationId xmlns:a16="http://schemas.microsoft.com/office/drawing/2014/main" id="{05606AF3-0BA4-434A-957C-B8840CBFD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5238750"/>
            <a:ext cx="50482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rPr>
              <a:t>Giảm nhánh dư khi ra quyết định.</a:t>
            </a:r>
          </a:p>
        </p:txBody>
      </p:sp>
    </p:spTree>
    <p:extLst>
      <p:ext uri="{BB962C8B-B14F-4D97-AF65-F5344CB8AC3E}">
        <p14:creationId xmlns:p14="http://schemas.microsoft.com/office/powerpoint/2010/main" val="110297108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">
            <a:extLst xmlns:a="http://schemas.openxmlformats.org/drawingml/2006/main">
              <a:ext uri="{FF2B5EF4-FFF2-40B4-BE49-F238E27FC236}">
                <a16:creationId xmlns:a16="http://schemas.microsoft.com/office/drawing/2014/main" id="{4FA26D9C-CE9B-43AC-86C2-00F920E8E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Find Your Path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63D94A14-6455-4B15-8F31-5D52093B2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85800"/>
            <a:ext cx="7048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IV. Đánh giá và thảo luận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E2D351F9-B968-4F4D-AE1E-FE71E9F87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43650"/>
            <a:ext cx="514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09</a:t>
            </a:r>
          </a:p>
        </p:txBody>
      </p:sp>
      <p:graphicFrame>
        <p:nvGraphicFramePr>
          <p:cNvPr id="18" name="Chart"/>
          <p:cNvGraphicFramePr/>
          <p:nvPr/>
        </p:nvGraphicFramePr>
        <p:xfrm>
          <a:off xmlns:a="http://schemas.openxmlformats.org/drawingml/2006/main" x="514350" y="1676400"/>
          <a:ext xmlns:a="http://schemas.openxmlformats.org/drawingml/2006/main" cx="5334000" cy="3429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d4b095f1783400a"/>
          </a:graphicData>
        </a:graphic>
      </p:graphicFrame>
      <p:sp>
        <p:nvSpPr>
          <p:cNvPr id="5" name="discussion-panel">
            <a:extLst xmlns:a="http://schemas.openxmlformats.org/drawingml/2006/main">
              <a:ext uri="{FF2B5EF4-FFF2-40B4-BE49-F238E27FC236}">
                <a16:creationId xmlns:a16="http://schemas.microsoft.com/office/drawing/2014/main" id="{56A83639-8033-4C71-BDDD-7A21808E7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809750"/>
            <a:ext cx="4762500" cy="2914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941DD6A6-7472-4AEF-98F7-118C148AA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114550"/>
            <a:ext cx="419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Nhận định nhóm</a:t>
            </a:r>
          </a:p>
        </p:txBody>
      </p:sp>
      <p:sp>
        <p:nvSpPr>
          <p:cNvPr id="7" name="dot">
            <a:extLst xmlns:a="http://schemas.openxmlformats.org/drawingml/2006/main">
              <a:ext uri="{FF2B5EF4-FFF2-40B4-BE49-F238E27FC236}">
                <a16:creationId xmlns:a16="http://schemas.microsoft.com/office/drawing/2014/main" id="{7A928E43-5E99-4591-BB31-003B76C65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7622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8583C080-D58E-4E42-B57A-8591793F1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686050"/>
            <a:ext cx="3867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Không có một thuật toán thắng mọi tình huống.</a:t>
            </a:r>
          </a:p>
        </p:txBody>
      </p:sp>
      <p:sp>
        <p:nvSpPr>
          <p:cNvPr id="9" name="dot">
            <a:extLst xmlns:a="http://schemas.openxmlformats.org/drawingml/2006/main">
              <a:ext uri="{FF2B5EF4-FFF2-40B4-BE49-F238E27FC236}">
                <a16:creationId xmlns:a16="http://schemas.microsoft.com/office/drawing/2014/main" id="{AC71315E-6044-4EDF-AF78-665079EA8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1813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068B294B-7116-435D-829C-07FEA8DB0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3105150"/>
            <a:ext cx="3867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A* phù hợp làm lõi tìm đường ngắn theo heuristic.</a:t>
            </a:r>
          </a:p>
        </p:txBody>
      </p:sp>
      <p:sp>
        <p:nvSpPr>
          <p:cNvPr id="11" name="dot">
            <a:extLst xmlns:a="http://schemas.openxmlformats.org/drawingml/2006/main">
              <a:ext uri="{FF2B5EF4-FFF2-40B4-BE49-F238E27FC236}">
                <a16:creationId xmlns:a16="http://schemas.microsoft.com/office/drawing/2014/main" id="{9C6D354C-B12B-4E86-A1F9-FA24D64B4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6004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D6CF6692-998F-42AA-9DEB-74C50BFD1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3524250"/>
            <a:ext cx="3867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CSP nên đứng trước bước nhận đơn để loại phương án vi phạm.</a:t>
            </a:r>
          </a:p>
        </p:txBody>
      </p:sp>
      <p:sp>
        <p:nvSpPr>
          <p:cNvPr id="13" name="dot">
            <a:extLst xmlns:a="http://schemas.openxmlformats.org/drawingml/2006/main">
              <a:ext uri="{FF2B5EF4-FFF2-40B4-BE49-F238E27FC236}">
                <a16:creationId xmlns:a16="http://schemas.microsoft.com/office/drawing/2014/main" id="{D6DD0A75-6C4E-4F5B-A862-A7E435F11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40195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DDE66CFD-2084-40F0-9E48-4E2490EEA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3943350"/>
            <a:ext cx="3867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Online replanning cần cho demo có đường bị chặn hoặc trạng thái thay đổi.</a:t>
            </a:r>
          </a:p>
        </p:txBody>
      </p:sp>
    </p:spTree>
    <p:extLst>
      <p:ext uri="{BB962C8B-B14F-4D97-AF65-F5344CB8AC3E}">
        <p14:creationId xmlns:p14="http://schemas.microsoft.com/office/powerpoint/2010/main" val="34889593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">
            <a:extLst xmlns:a="http://schemas.openxmlformats.org/drawingml/2006/main">
              <a:ext uri="{FF2B5EF4-FFF2-40B4-BE49-F238E27FC236}">
                <a16:creationId xmlns:a16="http://schemas.microsoft.com/office/drawing/2014/main" id="{AB835B6A-6704-488E-849E-131F6F5D9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Find Your Path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9B7D5E50-DA57-4CA5-B905-9F2000BFA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85800"/>
            <a:ext cx="7048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V. Kết luận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918263C9-5900-43C8-9440-FE10DE784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43650"/>
            <a:ext cx="514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10</a:t>
            </a:r>
          </a:p>
        </p:txBody>
      </p:sp>
      <p:sp>
        <p:nvSpPr>
          <p:cNvPr id="4" name="card">
            <a:extLst xmlns:a="http://schemas.openxmlformats.org/drawingml/2006/main">
              <a:ext uri="{FF2B5EF4-FFF2-40B4-BE49-F238E27FC236}">
                <a16:creationId xmlns:a16="http://schemas.microsoft.com/office/drawing/2014/main" id="{B517498F-8229-4178-9A9C-5BC1275BA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14550"/>
            <a:ext cx="356870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915A9D30-356F-4A4B-9D7C-3FC8819A3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43150"/>
            <a:ext cx="311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ĐÃ ĐẠT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C1A58557-B7E4-4769-9292-BBBC1D45D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57500"/>
            <a:ext cx="3111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Có hệ thống demo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EF29D652-3DE3-4ACB-B5C3-0BADAC71F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10000"/>
            <a:ext cx="31115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API, service, UI và bộ thuật toán hoạt động trên dữ liệu graph/cache của dự án.</a:t>
            </a:r>
          </a:p>
        </p:txBody>
      </p:sp>
      <p:sp>
        <p:nvSpPr>
          <p:cNvPr id="8" name="card">
            <a:extLst xmlns:a="http://schemas.openxmlformats.org/drawingml/2006/main">
              <a:ext uri="{FF2B5EF4-FFF2-40B4-BE49-F238E27FC236}">
                <a16:creationId xmlns:a16="http://schemas.microsoft.com/office/drawing/2014/main" id="{CCE615B1-C77C-4449-B878-D5CECF7BC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1650" y="2114550"/>
            <a:ext cx="356870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E238E8C9-F78B-4128-999F-3173705AD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0250" y="2343150"/>
            <a:ext cx="311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GIÁ TRỊ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92853542-7333-4367-8B67-EEFA32D33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0250" y="2857500"/>
            <a:ext cx="3111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Trace giải thích được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4E2A86EB-A5FB-4D4E-BBC7-7016866D4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0250" y="3810000"/>
            <a:ext cx="31115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Kết quả không chỉ trả path mà còn có metrics, runtime và trace để thuyết trình thuật toán.</a:t>
            </a:r>
          </a:p>
        </p:txBody>
      </p:sp>
      <p:sp>
        <p:nvSpPr>
          <p:cNvPr id="12" name="card">
            <a:extLst xmlns:a="http://schemas.openxmlformats.org/drawingml/2006/main">
              <a:ext uri="{FF2B5EF4-FFF2-40B4-BE49-F238E27FC236}">
                <a16:creationId xmlns:a16="http://schemas.microsoft.com/office/drawing/2014/main" id="{89411158-636E-4E7C-8E0E-0F848208D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8950" y="2114550"/>
            <a:ext cx="356870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B292A971-E70D-4500-8B21-68AEBE5BA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7550" y="2343150"/>
            <a:ext cx="311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LINK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61CDBCB7-BD58-4451-8167-1B950432B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7550" y="2857500"/>
            <a:ext cx="3111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GitHub &amp; Demo</a:t>
            </a:r>
          </a:p>
        </p:txBody>
      </p: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A55BF4D6-4540-446F-BB5A-81627E71A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7550" y="3810000"/>
            <a:ext cx="31115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GitHub: https://github.com/zomboXx/FYP</a:t>
            </a:r>
          </a:p>
          <a:p xmlns:a="http://schemas.openxmlformats.org/drawingml/2006/main">
            <a:pPr algn="l">
              <a:defRPr sz="14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Demo: https://find-your-path-fyp.vercel.app</a:t>
            </a:r>
          </a:p>
        </p:txBody>
      </p:sp>
    </p:spTree>
    <p:extLst>
      <p:ext uri="{BB962C8B-B14F-4D97-AF65-F5344CB8AC3E}">
        <p14:creationId xmlns:p14="http://schemas.microsoft.com/office/powerpoint/2010/main" val="16407160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2026-06-24T16:04:16.0080000Z</dcterms:created>
  <dcterms:modified xsi:type="dcterms:W3CDTF">2026-06-24T16:04:16.0080000Z</dcterms:modified>
</coreProperties>
</file>